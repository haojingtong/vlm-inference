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Arimo"/>
      <p:regular r:id="rId17"/>
      <p:bold r:id="rId18"/>
      <p:italic r:id="rId19"/>
      <p:boldItalic r:id="rId20"/>
    </p:embeddedFont>
    <p:embeddedFont>
      <p:font typeface="Arimo SemiBold"/>
      <p:regular r:id="rId21"/>
      <p:bold r:id="rId22"/>
      <p:italic r:id="rId23"/>
      <p:boldItalic r:id="rId24"/>
    </p:embeddedFont>
    <p:embeddedFont>
      <p:font typeface="Arimo Medium"/>
      <p:regular r:id="rId25"/>
      <p:bold r:id="rId26"/>
      <p:italic r:id="rId27"/>
      <p:boldItalic r:id="rId28"/>
    </p:embeddedFont>
    <p:embeddedFont>
      <p:font typeface="Roboto Mono"/>
      <p:regular r:id="rId29"/>
      <p:bold r:id="rId30"/>
      <p:italic r:id="rId31"/>
      <p:boldItalic r:id="rId32"/>
    </p:embeddedFont>
    <p:embeddedFont>
      <p:font typeface="Merriweather"/>
      <p:regular r:id="rId33"/>
      <p:bold r:id="rId34"/>
      <p:italic r:id="rId35"/>
      <p:boldItalic r:id="rId36"/>
    </p:embeddedFont>
    <p:embeddedFont>
      <p:font typeface="DM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20" Type="http://schemas.openxmlformats.org/officeDocument/2006/relationships/font" Target="fonts/Arimo-boldItalic.fntdata"/><Relationship Id="rId22" Type="http://schemas.openxmlformats.org/officeDocument/2006/relationships/font" Target="fonts/ArimoSemiBold-bold.fntdata"/><Relationship Id="rId21" Type="http://schemas.openxmlformats.org/officeDocument/2006/relationships/font" Target="fonts/ArimoSemiBold-regular.fntdata"/><Relationship Id="rId24" Type="http://schemas.openxmlformats.org/officeDocument/2006/relationships/font" Target="fonts/ArimoSemiBold-boldItalic.fntdata"/><Relationship Id="rId23" Type="http://schemas.openxmlformats.org/officeDocument/2006/relationships/font" Target="fonts/Arimo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moMedium-bold.fntdata"/><Relationship Id="rId25" Type="http://schemas.openxmlformats.org/officeDocument/2006/relationships/font" Target="fonts/ArimoMedium-regular.fntdata"/><Relationship Id="rId28" Type="http://schemas.openxmlformats.org/officeDocument/2006/relationships/font" Target="fonts/ArimoMedium-boldItalic.fntdata"/><Relationship Id="rId27" Type="http://schemas.openxmlformats.org/officeDocument/2006/relationships/font" Target="fonts/Arimo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33" Type="http://schemas.openxmlformats.org/officeDocument/2006/relationships/font" Target="fonts/Merriweather-regular.fntdata"/><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35" Type="http://schemas.openxmlformats.org/officeDocument/2006/relationships/font" Target="fonts/Merriweather-italic.fntdata"/><Relationship Id="rId12" Type="http://schemas.openxmlformats.org/officeDocument/2006/relationships/slide" Target="slides/slide7.xml"/><Relationship Id="rId34" Type="http://schemas.openxmlformats.org/officeDocument/2006/relationships/font" Target="fonts/Merriweather-bold.fntdata"/><Relationship Id="rId15" Type="http://schemas.openxmlformats.org/officeDocument/2006/relationships/slide" Target="slides/slide10.xml"/><Relationship Id="rId37" Type="http://schemas.openxmlformats.org/officeDocument/2006/relationships/font" Target="fonts/DMSans-regular.fntdata"/><Relationship Id="rId14" Type="http://schemas.openxmlformats.org/officeDocument/2006/relationships/slide" Target="slides/slide9.xml"/><Relationship Id="rId36" Type="http://schemas.openxmlformats.org/officeDocument/2006/relationships/font" Target="fonts/Merriweather-boldItalic.fntdata"/><Relationship Id="rId17" Type="http://schemas.openxmlformats.org/officeDocument/2006/relationships/font" Target="fonts/Arimo-regular.fntdata"/><Relationship Id="rId39" Type="http://schemas.openxmlformats.org/officeDocument/2006/relationships/font" Target="fonts/DMSans-italic.fntdata"/><Relationship Id="rId16" Type="http://schemas.openxmlformats.org/officeDocument/2006/relationships/slide" Target="slides/slide11.xml"/><Relationship Id="rId38" Type="http://schemas.openxmlformats.org/officeDocument/2006/relationships/font" Target="fonts/DMSans-bold.fntdata"/><Relationship Id="rId19" Type="http://schemas.openxmlformats.org/officeDocument/2006/relationships/font" Target="fonts/Arimo-italic.fntdata"/><Relationship Id="rId18" Type="http://schemas.openxmlformats.org/officeDocument/2006/relationships/font" Target="fonts/Arim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a57d92a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a57d92a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himeveryone. My name is </a:t>
            </a:r>
            <a:r>
              <a:rPr b="1" lang="en">
                <a:solidFill>
                  <a:schemeClr val="dk1"/>
                </a:solidFill>
              </a:rPr>
              <a:t>YuQi</a:t>
            </a:r>
            <a:r>
              <a:rPr lang="en">
                <a:solidFill>
                  <a:schemeClr val="dk1"/>
                </a:solidFill>
              </a:rPr>
              <a:t>, and today my team will ll be presenting our project: </a:t>
            </a:r>
            <a:r>
              <a:rPr b="1" lang="en">
                <a:solidFill>
                  <a:schemeClr val="dk1"/>
                </a:solidFill>
              </a:rPr>
              <a:t>'Efficient VLM Inference via Visual Token Compression.'</a:t>
            </a:r>
            <a:r>
              <a:rPr lang="en">
                <a:solidFill>
                  <a:schemeClr val="dk1"/>
                </a:solidFill>
              </a:rPr>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9a57d92acf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9a57d92acf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To start, let’s look at the core objective of our project. </a:t>
            </a:r>
            <a:r>
              <a:rPr b="1" lang="en">
                <a:solidFill>
                  <a:schemeClr val="dk1"/>
                </a:solidFill>
              </a:rPr>
              <a:t>First, the Goal.</a:t>
            </a:r>
            <a:r>
              <a:rPr lang="en">
                <a:solidFill>
                  <a:schemeClr val="dk1"/>
                </a:solidFill>
              </a:rPr>
              <a:t> Current models like Qwen2.5-VL produce huge visual tokens, which leads to what we call the 'Visual Token Explosion.' Our goal was to break this bottleneck, reducing redundancy in the KV-cache to make real-time inference on HPC clusters both faster and more memory-efficient.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Next, the Solution.</a:t>
            </a:r>
            <a:r>
              <a:rPr lang="en">
                <a:solidFill>
                  <a:schemeClr val="dk1"/>
                </a:solidFill>
              </a:rPr>
              <a:t> we built a comprehensive </a:t>
            </a:r>
            <a:r>
              <a:rPr b="1" lang="en">
                <a:solidFill>
                  <a:schemeClr val="dk1"/>
                </a:solidFill>
              </a:rPr>
              <a:t>Compression Suite</a:t>
            </a:r>
            <a:r>
              <a:rPr lang="en">
                <a:solidFill>
                  <a:schemeClr val="dk1"/>
                </a:solidFill>
              </a:rPr>
              <a:t>. As I’ll show in the code later, we used </a:t>
            </a:r>
            <a:r>
              <a:rPr b="1" lang="en">
                <a:solidFill>
                  <a:schemeClr val="dk1"/>
                </a:solidFill>
              </a:rPr>
              <a:t>Monkey-patching</a:t>
            </a:r>
            <a:r>
              <a:rPr lang="en">
                <a:solidFill>
                  <a:schemeClr val="dk1"/>
                </a:solidFill>
              </a:rPr>
              <a:t> to hook into the Vision Tower. We compared three distinct tiers: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Fixed-Ratio</a:t>
            </a:r>
            <a:r>
              <a:rPr lang="en">
                <a:solidFill>
                  <a:schemeClr val="dk1"/>
                </a:solidFill>
              </a:rPr>
              <a:t> for pure speed,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Importance-pruning</a:t>
            </a:r>
            <a:r>
              <a:rPr lang="en">
                <a:solidFill>
                  <a:schemeClr val="dk1"/>
                </a:solidFill>
              </a:rPr>
              <a:t> for query-aware focus,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and </a:t>
            </a:r>
            <a:r>
              <a:rPr b="1" lang="en">
                <a:solidFill>
                  <a:schemeClr val="dk1"/>
                </a:solidFill>
              </a:rPr>
              <a:t>Token Merging (ToMe)</a:t>
            </a:r>
            <a:r>
              <a:rPr lang="en">
                <a:solidFill>
                  <a:schemeClr val="dk1"/>
                </a:solidFill>
              </a:rPr>
              <a:t> for information-dense fusion.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Finally, the Value.</a:t>
            </a:r>
            <a:r>
              <a:rPr lang="en">
                <a:solidFill>
                  <a:schemeClr val="dk1"/>
                </a:solidFill>
              </a:rPr>
              <a:t> From a performance standpoint, we achieved</a:t>
            </a:r>
            <a:r>
              <a:rPr b="1" lang="en">
                <a:solidFill>
                  <a:schemeClr val="dk1"/>
                </a:solidFill>
              </a:rPr>
              <a:t> reduction</a:t>
            </a:r>
            <a:r>
              <a:rPr lang="en">
                <a:solidFill>
                  <a:schemeClr val="dk1"/>
                </a:solidFill>
              </a:rPr>
              <a:t> in token count, translating to </a:t>
            </a:r>
            <a:r>
              <a:rPr b="1" lang="en">
                <a:solidFill>
                  <a:schemeClr val="dk1"/>
                </a:solidFill>
              </a:rPr>
              <a:t>throughput speedup</a:t>
            </a:r>
            <a:r>
              <a:rPr lang="en">
                <a:solidFill>
                  <a:schemeClr val="dk1"/>
                </a:solidFill>
              </a:rPr>
              <a:t> in our A100 benchmarks.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from a quality standpoint, our custom </a:t>
            </a:r>
            <a:r>
              <a:rPr b="1" lang="en">
                <a:solidFill>
                  <a:schemeClr val="dk1"/>
                </a:solidFill>
              </a:rPr>
              <a:t>M-RoPE grid synthesis</a:t>
            </a:r>
            <a:r>
              <a:rPr lang="en">
                <a:solidFill>
                  <a:schemeClr val="dk1"/>
                </a:solidFill>
              </a:rPr>
              <a:t> ensures that even with fewer tokens, the model doesn't lose its 'spatial sense'—maintaining over 95% accuracy on visual reasoning tasks.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9a57d92acf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9a57d92acf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rPr>
              <a:t>Unlike older models that resize everything to same size, Qwen </a:t>
            </a:r>
            <a:r>
              <a:rPr lang="en">
                <a:solidFill>
                  <a:schemeClr val="dk1"/>
                </a:solidFill>
              </a:rPr>
              <a:t>2.5 uses a "Naive Dynamic Resolution" mechanism</a:t>
            </a:r>
            <a:r>
              <a:rPr lang="en" sz="1200">
                <a:solidFill>
                  <a:schemeClr val="dk1"/>
                </a:solidFill>
              </a:rPr>
              <a:t>. This means the visual token </a:t>
            </a:r>
            <a:r>
              <a:rPr lang="en">
                <a:solidFill>
                  <a:schemeClr val="dk1"/>
                </a:solidFill>
              </a:rPr>
              <a:t>vary per image</a:t>
            </a:r>
            <a:r>
              <a:rPr lang="en" sz="1200">
                <a:solidFill>
                  <a:schemeClr val="dk1"/>
                </a:solidFill>
              </a:rPr>
              <a:t>(count can range from 4 to 16,000+). Our logic has to be flexible enough to handle this 'native resolution' variability without crashing the attention mask."</a:t>
            </a:r>
            <a:endParaRPr b="1" sz="1300">
              <a:solidFill>
                <a:schemeClr val="dk1"/>
              </a:solidFill>
            </a:endParaRPr>
          </a:p>
          <a:p>
            <a:pPr indent="0" lvl="0" marL="0" marR="381000" rtl="0" algn="l">
              <a:lnSpc>
                <a:spcPct val="115000"/>
              </a:lnSpc>
              <a:spcBef>
                <a:spcPts val="1200"/>
              </a:spcBef>
              <a:spcAft>
                <a:spcPts val="0"/>
              </a:spcAft>
              <a:buNone/>
            </a:pPr>
            <a:r>
              <a:rPr lang="en" sz="1200">
                <a:solidFill>
                  <a:schemeClr val="dk1"/>
                </a:solidFill>
                <a:highlight>
                  <a:schemeClr val="lt1"/>
                </a:highlight>
              </a:rPr>
              <a:t>One of our biggest challenge was Qwen's use of </a:t>
            </a:r>
            <a:r>
              <a:rPr lang="en">
                <a:solidFill>
                  <a:schemeClr val="dk1"/>
                </a:solidFill>
              </a:rPr>
              <a:t>Multi-dimensional Rotary Position Embedding</a:t>
            </a:r>
            <a:r>
              <a:rPr lang="en" sz="1200">
                <a:solidFill>
                  <a:schemeClr val="dk1"/>
                </a:solidFill>
                <a:highlight>
                  <a:schemeClr val="lt1"/>
                </a:highlight>
              </a:rPr>
              <a:t>.</a:t>
            </a:r>
            <a:r>
              <a:rPr lang="en" sz="1200">
                <a:solidFill>
                  <a:schemeClr val="dk1"/>
                </a:solidFill>
              </a:rPr>
              <a:t>Qwen encodes spatial information as a 3D grid. If we prune tokens without updating the </a:t>
            </a:r>
            <a:r>
              <a:rPr lang="en">
                <a:solidFill>
                  <a:schemeClr val="dk1"/>
                </a:solidFill>
                <a:latin typeface="Roboto Mono"/>
                <a:ea typeface="Roboto Mono"/>
                <a:cs typeface="Roboto Mono"/>
                <a:sym typeface="Roboto Mono"/>
              </a:rPr>
              <a:t>grid_thw</a:t>
            </a:r>
            <a:r>
              <a:rPr lang="en" sz="1200">
                <a:solidFill>
                  <a:schemeClr val="dk1"/>
                </a:solidFill>
              </a:rPr>
              <a:t> metadata, the model's 'eyes' become misaligned, and it loses the ability to localize objects correctly. We had to synthesize new grid dimensions post-compression.</a:t>
            </a:r>
            <a:endParaRPr sz="1200">
              <a:solidFill>
                <a:schemeClr val="dk1"/>
              </a:solidFill>
            </a:endParaRPr>
          </a:p>
          <a:p>
            <a:pPr indent="0" lvl="0" marL="0" marR="381000" rtl="0" algn="l">
              <a:lnSpc>
                <a:spcPct val="115000"/>
              </a:lnSpc>
              <a:spcBef>
                <a:spcPts val="1200"/>
              </a:spcBef>
              <a:spcAft>
                <a:spcPts val="0"/>
              </a:spcAft>
              <a:buNone/>
            </a:pPr>
            <a:br>
              <a:rPr lang="en" sz="1200">
                <a:solidFill>
                  <a:schemeClr val="dk1"/>
                </a:solidFill>
              </a:rPr>
            </a:br>
            <a:r>
              <a:rPr lang="en" sz="1200">
                <a:solidFill>
                  <a:schemeClr val="dk1"/>
                </a:solidFill>
              </a:rPr>
              <a:t>For the internal hooking, "The </a:t>
            </a:r>
            <a:r>
              <a:rPr lang="en">
                <a:solidFill>
                  <a:schemeClr val="dk1"/>
                </a:solidFill>
                <a:latin typeface="Roboto Mono"/>
                <a:ea typeface="Roboto Mono"/>
                <a:cs typeface="Roboto Mono"/>
                <a:sym typeface="Roboto Mono"/>
              </a:rPr>
              <a:t>transformers</a:t>
            </a:r>
            <a:r>
              <a:rPr lang="en" sz="1200">
                <a:solidFill>
                  <a:schemeClr val="dk1"/>
                </a:solidFill>
              </a:rPr>
              <a:t> library doesn't provide a clean API for token reduction. We implemented </a:t>
            </a:r>
            <a:r>
              <a:rPr b="1" lang="en">
                <a:solidFill>
                  <a:schemeClr val="dk1"/>
                </a:solidFill>
              </a:rPr>
              <a:t>Monkey-patching</a:t>
            </a:r>
            <a:r>
              <a:rPr lang="en" sz="1200">
                <a:solidFill>
                  <a:schemeClr val="dk1"/>
                </a:solidFill>
              </a:rPr>
              <a:t> on the </a:t>
            </a:r>
            <a:r>
              <a:rPr lang="en">
                <a:solidFill>
                  <a:schemeClr val="dk1"/>
                </a:solidFill>
                <a:latin typeface="Roboto Mono"/>
                <a:ea typeface="Roboto Mono"/>
                <a:cs typeface="Roboto Mono"/>
                <a:sym typeface="Roboto Mono"/>
              </a:rPr>
              <a:t>get_image_features</a:t>
            </a:r>
            <a:r>
              <a:rPr lang="en" sz="1200">
                <a:solidFill>
                  <a:schemeClr val="dk1"/>
                </a:solidFill>
              </a:rPr>
              <a:t> method. This allows us to intercept the high-dimensional embeddings directly from the Vision Tower, compress them, and inject them into the LLM stream."</a:t>
            </a:r>
            <a:endParaRPr sz="1200">
              <a:solidFill>
                <a:schemeClr val="dk1"/>
              </a:solidFill>
            </a:endParaRPr>
          </a:p>
          <a:p>
            <a:pPr indent="0" lvl="0" marL="0" marR="381000" rtl="0" algn="l">
              <a:lnSpc>
                <a:spcPct val="115000"/>
              </a:lnSpc>
              <a:spcBef>
                <a:spcPts val="1200"/>
              </a:spcBef>
              <a:spcAft>
                <a:spcPts val="0"/>
              </a:spcAft>
              <a:buNone/>
            </a:pPr>
            <a:r>
              <a:rPr lang="en" sz="1200">
                <a:solidFill>
                  <a:schemeClr val="dk1"/>
                </a:solidFill>
              </a:rPr>
              <a:t>For optimization,</a:t>
            </a:r>
            <a:r>
              <a:rPr lang="en">
                <a:solidFill>
                  <a:schemeClr val="dk1"/>
                </a:solidFill>
              </a:rPr>
              <a:t>we had to ensure that the time saved during the decoding phase wasn't countedred' by the time spent calculating token importance or performing bipartite matching.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achieve this, we made a architectural decision as seen in our </a:t>
            </a:r>
            <a:r>
              <a:rPr lang="en">
                <a:solidFill>
                  <a:srgbClr val="188038"/>
                </a:solidFill>
                <a:latin typeface="Roboto Mono"/>
                <a:ea typeface="Roboto Mono"/>
                <a:cs typeface="Roboto Mono"/>
                <a:sym typeface="Roboto Mono"/>
              </a:rPr>
              <a:t>CompressedVLM</a:t>
            </a:r>
            <a:r>
              <a:rPr lang="en">
                <a:solidFill>
                  <a:schemeClr val="dk1"/>
                </a:solidFill>
              </a:rPr>
              <a:t> class: we bypassed the standard </a:t>
            </a:r>
            <a:r>
              <a:rPr lang="en">
                <a:solidFill>
                  <a:srgbClr val="188038"/>
                </a:solidFill>
                <a:latin typeface="Roboto Mono"/>
                <a:ea typeface="Roboto Mono"/>
                <a:cs typeface="Roboto Mono"/>
                <a:sym typeface="Roboto Mono"/>
              </a:rPr>
              <a:t>model.get_image_features</a:t>
            </a:r>
            <a:r>
              <a:rPr lang="en">
                <a:solidFill>
                  <a:schemeClr val="dk1"/>
                </a:solidFill>
              </a:rPr>
              <a:t> wrapper, which often re-runs the vision tower multiple times due to internal defensive checks. Instead, we ensured the </a:t>
            </a:r>
            <a:r>
              <a:rPr b="1" lang="en">
                <a:solidFill>
                  <a:schemeClr val="dk1"/>
                </a:solidFill>
              </a:rPr>
              <a:t>Vision Tower runs exactly once</a:t>
            </a:r>
            <a:r>
              <a:rPr lang="en">
                <a:solidFill>
                  <a:schemeClr val="dk1"/>
                </a:solidFill>
              </a:rPr>
              <a:t>. By running our compression modules (like ToMe or Attention-pruning) as a single vectorized pass before the tokens ever reach the LLM, we achieved a net gain in throughput. Our goal wasn't just to reduce the number of tokens, but to ensure that the 'cost-to-benefit' ratio was heavily skewed toward faster end-to-end inference."</a:t>
            </a:r>
            <a:endParaRPr>
              <a:solidFill>
                <a:schemeClr val="dk1"/>
              </a:solidFill>
            </a:endParaRPr>
          </a:p>
          <a:p>
            <a:pPr indent="0" lvl="0" marL="0" marR="381000" rtl="0" algn="l">
              <a:lnSpc>
                <a:spcPct val="115000"/>
              </a:lnSpc>
              <a:spcBef>
                <a:spcPts val="1200"/>
              </a:spcBef>
              <a:spcAft>
                <a:spcPts val="1200"/>
              </a:spcAft>
              <a:buNone/>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a57d92acf_0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9a57d92acf_0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moving to the implementation, here is an architecture diagram illustrates how we integrate our compression layer into the </a:t>
            </a:r>
            <a:r>
              <a:rPr b="1" lang="en">
                <a:solidFill>
                  <a:schemeClr val="dk1"/>
                </a:solidFill>
              </a:rPr>
              <a:t>Qwen2.5-VL</a:t>
            </a:r>
            <a:r>
              <a:rPr lang="en">
                <a:solidFill>
                  <a:schemeClr val="dk1"/>
                </a:solidFill>
              </a:rPr>
              <a:t> pipeline.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left, we handle decoupled modalities: images are processed via Qwen’s native dynamic resolution vision tower, while text prompts are assembled into sequences.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part here is our </a:t>
            </a:r>
            <a:r>
              <a:rPr b="1" lang="en">
                <a:solidFill>
                  <a:schemeClr val="dk1"/>
                </a:solidFill>
              </a:rPr>
              <a:t>Middleware layer</a:t>
            </a:r>
            <a:r>
              <a:rPr lang="en">
                <a:solidFill>
                  <a:schemeClr val="dk1"/>
                </a:solidFill>
              </a:rPr>
              <a:t>, we implement this compressedvlm wrapper,. It operates through a four-stage 'Hook &amp; Patch' lifecycle: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Intercepts</a:t>
            </a:r>
            <a:r>
              <a:rPr lang="en">
                <a:solidFill>
                  <a:schemeClr val="dk1"/>
                </a:solidFill>
              </a:rPr>
              <a:t>: We use </a:t>
            </a:r>
            <a:r>
              <a:rPr b="1" lang="en">
                <a:solidFill>
                  <a:schemeClr val="dk1"/>
                </a:solidFill>
              </a:rPr>
              <a:t>Monkey-patching</a:t>
            </a:r>
            <a:r>
              <a:rPr lang="en">
                <a:solidFill>
                  <a:schemeClr val="dk1"/>
                </a:solidFill>
              </a:rPr>
              <a:t> to hook into the Vision Tower to extract the raw, full-density embeddings (typically 1,024 tokens) directly from the model’s internal feature-map merger.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Compresses</a:t>
            </a:r>
            <a:r>
              <a:rPr lang="en">
                <a:solidFill>
                  <a:schemeClr val="dk1"/>
                </a:solidFill>
              </a:rPr>
              <a:t> is where our three core strategies—Fixed-Ratio, Importance-based, and ToMe—are executed. The wrapper chooses the most efficient mathematical operation to reduce the token count from 1,024 to a target 'K' value.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Rewrites</a:t>
            </a:r>
            <a:r>
              <a:rPr lang="en">
                <a:solidFill>
                  <a:schemeClr val="dk1"/>
                </a:solidFill>
              </a:rPr>
              <a:t>  is a critical engineering step. Since we've reduced the number of tokens, the original text prompt's placeholders and the </a:t>
            </a:r>
            <a:r>
              <a:rPr b="1" lang="en">
                <a:solidFill>
                  <a:schemeClr val="dk1"/>
                </a:solidFill>
              </a:rPr>
              <a:t>M-RoPE (3D Rotary Positional Embeddings)</a:t>
            </a:r>
            <a:r>
              <a:rPr lang="en">
                <a:solidFill>
                  <a:schemeClr val="dk1"/>
                </a:solidFill>
              </a:rPr>
              <a:t> grid metadata (</a:t>
            </a:r>
            <a:r>
              <a:rPr lang="en">
                <a:solidFill>
                  <a:srgbClr val="188038"/>
                </a:solidFill>
                <a:latin typeface="Roboto Mono"/>
                <a:ea typeface="Roboto Mono"/>
                <a:cs typeface="Roboto Mono"/>
                <a:sym typeface="Roboto Mono"/>
              </a:rPr>
              <a:t>grid_thw</a:t>
            </a:r>
            <a:r>
              <a:rPr lang="en">
                <a:solidFill>
                  <a:schemeClr val="dk1"/>
                </a:solidFill>
              </a:rPr>
              <a:t>) are no longer accurate. The wrapper automatically rewrites the input sequence and re-calculates the spatial grid to ensure geometric consistency.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a:t>
            </a:r>
            <a:r>
              <a:rPr b="1" lang="en">
                <a:solidFill>
                  <a:schemeClr val="dk1"/>
                </a:solidFill>
              </a:rPr>
              <a:t>Patches</a:t>
            </a:r>
            <a:r>
              <a:rPr lang="en">
                <a:solidFill>
                  <a:schemeClr val="dk1"/>
                </a:solidFill>
              </a:rPr>
              <a:t> is the reduced set of tokens is injected back into the LLM's forward pass. To the LLM decoder, it appears as a standard, short-sequence input, allowing for much faster time-to-first-token and higher throughput."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9a57d92acf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9a57d92acf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"Now, let's compare our three primary compression strategies.、We categorize our approach into three tiers of increasing complexity."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first， is </a:t>
            </a:r>
            <a:r>
              <a:rPr b="1" lang="en">
                <a:solidFill>
                  <a:schemeClr val="dk1"/>
                </a:solidFill>
              </a:rPr>
              <a:t>Fixed-Ratio Pruning</a:t>
            </a:r>
            <a:r>
              <a:rPr lang="en">
                <a:solidFill>
                  <a:schemeClr val="dk1"/>
                </a:solidFill>
              </a:rPr>
              <a:t>. This is our speed baseline. We use a simple </a:t>
            </a:r>
            <a:r>
              <a:rPr lang="en">
                <a:solidFill>
                  <a:srgbClr val="188038"/>
                </a:solidFill>
                <a:latin typeface="Roboto Mono"/>
                <a:ea typeface="Roboto Mono"/>
                <a:cs typeface="Roboto Mono"/>
                <a:sym typeface="Roboto Mono"/>
              </a:rPr>
              <a:t>torch.linspace</a:t>
            </a:r>
            <a:r>
              <a:rPr lang="en">
                <a:solidFill>
                  <a:schemeClr val="dk1"/>
                </a:solidFill>
              </a:rPr>
              <a:t> operation to uniformly sample tokens across the spatial grid. Because it doesn't depend on the content, it has zero latency overhead (O(N)),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second tier is </a:t>
            </a:r>
            <a:r>
              <a:rPr b="1" lang="en">
                <a:solidFill>
                  <a:schemeClr val="dk1"/>
                </a:solidFill>
              </a:rPr>
              <a:t>Importance-Based Pruning</a:t>
            </a:r>
            <a:r>
              <a:rPr lang="en">
                <a:solidFill>
                  <a:schemeClr val="dk1"/>
                </a:solidFill>
              </a:rPr>
              <a:t>, where we become 'content-aware.' As seen in our implementation, we use three distinct signals: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Attention</a:t>
            </a:r>
            <a:r>
              <a:rPr lang="en">
                <a:solidFill>
                  <a:schemeClr val="dk1"/>
                </a:solidFill>
              </a:rPr>
              <a:t>: We leverage the cross-attention weights to see which visual patches the text prompt is actually 'looking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Similarity &amp; Magnitude</a:t>
            </a:r>
            <a:r>
              <a:rPr lang="en">
                <a:solidFill>
                  <a:schemeClr val="dk1"/>
                </a:solidFill>
              </a:rPr>
              <a:t>: We also look at the internal feature intensity. If a group of tokens is highly similar or has very low magnitude (like a plain background), they are pruned. This ensures we keep the 'informing pixels while pruning the noise."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"Finally, we implemented </a:t>
            </a:r>
            <a:r>
              <a:rPr b="1" lang="en">
                <a:solidFill>
                  <a:schemeClr val="dk1"/>
                </a:solidFill>
              </a:rPr>
              <a:t>Token Merging (ToMe)</a:t>
            </a:r>
            <a:r>
              <a:rPr lang="en">
                <a:solidFill>
                  <a:schemeClr val="dk1"/>
                </a:solidFill>
              </a:rPr>
              <a:t>. Unlike pruning, which simply deletes information, ToMe is a 'fusion' strategy. We use </a:t>
            </a:r>
            <a:r>
              <a:rPr b="1" lang="en">
                <a:solidFill>
                  <a:schemeClr val="dk1"/>
                </a:solidFill>
              </a:rPr>
              <a:t>Bipartite Matching</a:t>
            </a:r>
            <a:r>
              <a:rPr lang="en">
                <a:solidFill>
                  <a:schemeClr val="dk1"/>
                </a:solidFill>
              </a:rPr>
              <a:t> to find pairs of tokens that are visually similar. If one 'super-token' represents four original patches, we weight its embedding accordingly. This ensures that even at extreme compression ratios, the global semantic of the image are preserved, minimizing the impact on the LLM's reasoning accuracy."</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a57d92acf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a57d92acf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9a57d92acf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9a57d92acf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Quality (VQA-v2 Accuracy)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ae8e32ead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dae8e32ea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ae8e32ea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dae8e32ea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a57d92acf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9a57d92acf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9a57d92acf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9a57d92acf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10" name="Google Shape;10;p2"/>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11" name="Google Shape;11;p2"/>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13" name="Google Shape;13;p2"/>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4" name="Google Shape;14;p2"/>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5" name="Google Shape;15;p2"/>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6" name="Google Shape;16;p2"/>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17" name="Shape 17"/>
        <p:cNvGrpSpPr/>
        <p:nvPr/>
      </p:nvGrpSpPr>
      <p:grpSpPr>
        <a:xfrm>
          <a:off x="0" y="0"/>
          <a:ext cx="0" cy="0"/>
          <a:chOff x="0" y="0"/>
          <a:chExt cx="0" cy="0"/>
        </a:xfrm>
      </p:grpSpPr>
      <p:grpSp>
        <p:nvGrpSpPr>
          <p:cNvPr id="18" name="Google Shape;18;p3"/>
          <p:cNvGrpSpPr/>
          <p:nvPr/>
        </p:nvGrpSpPr>
        <p:grpSpPr>
          <a:xfrm>
            <a:off x="277515" y="277501"/>
            <a:ext cx="8589075" cy="4593888"/>
            <a:chOff x="277500" y="277500"/>
            <a:chExt cx="8589075" cy="4593888"/>
          </a:xfrm>
        </p:grpSpPr>
        <p:pic>
          <p:nvPicPr>
            <p:cNvPr id="19" name="Google Shape;19;p3"/>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20" name="Google Shape;20;p3"/>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21" name="Google Shape;21;p3"/>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22" name="Google Shape;22;p3"/>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23" name="Google Shape;23;p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24" name="Google Shape;24;p3"/>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25" name="Google Shape;25;p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6" name="Google Shape;26;p3"/>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277500" y="1963600"/>
            <a:ext cx="1333800" cy="1337100"/>
          </a:xfrm>
          <a:prstGeom prst="roundRect">
            <a:avLst>
              <a:gd fmla="val 14278" name="adj"/>
            </a:avLst>
          </a:prstGeom>
          <a:noFill/>
          <a:ln>
            <a:noFill/>
          </a:ln>
        </p:spPr>
      </p:sp>
      <p:sp>
        <p:nvSpPr>
          <p:cNvPr id="29" name="Google Shape;29;p4"/>
          <p:cNvSpPr/>
          <p:nvPr>
            <p:ph idx="3" type="pic"/>
          </p:nvPr>
        </p:nvSpPr>
        <p:spPr>
          <a:xfrm>
            <a:off x="1728225" y="1963600"/>
            <a:ext cx="1333800" cy="1337100"/>
          </a:xfrm>
          <a:prstGeom prst="roundRect">
            <a:avLst>
              <a:gd fmla="val 14278" name="adj"/>
            </a:avLst>
          </a:prstGeom>
          <a:noFill/>
          <a:ln>
            <a:noFill/>
          </a:ln>
        </p:spPr>
      </p:sp>
      <p:sp>
        <p:nvSpPr>
          <p:cNvPr id="30" name="Google Shape;30;p4"/>
          <p:cNvSpPr/>
          <p:nvPr>
            <p:ph idx="4" type="pic"/>
          </p:nvPr>
        </p:nvSpPr>
        <p:spPr>
          <a:xfrm>
            <a:off x="3179025" y="1963600"/>
            <a:ext cx="1333800" cy="1337100"/>
          </a:xfrm>
          <a:prstGeom prst="roundRect">
            <a:avLst>
              <a:gd fmla="val 14278" name="adj"/>
            </a:avLst>
          </a:prstGeom>
          <a:noFill/>
          <a:ln>
            <a:noFill/>
          </a:ln>
        </p:spPr>
      </p:sp>
      <p:sp>
        <p:nvSpPr>
          <p:cNvPr id="31" name="Google Shape;31;p4"/>
          <p:cNvSpPr/>
          <p:nvPr>
            <p:ph idx="5" type="pic"/>
          </p:nvPr>
        </p:nvSpPr>
        <p:spPr>
          <a:xfrm>
            <a:off x="4629825" y="1963600"/>
            <a:ext cx="1333800" cy="1337100"/>
          </a:xfrm>
          <a:prstGeom prst="roundRect">
            <a:avLst>
              <a:gd fmla="val 14278" name="adj"/>
            </a:avLst>
          </a:prstGeom>
          <a:noFill/>
          <a:ln>
            <a:noFill/>
          </a:ln>
        </p:spPr>
      </p:sp>
      <p:sp>
        <p:nvSpPr>
          <p:cNvPr id="32" name="Google Shape;32;p4"/>
          <p:cNvSpPr/>
          <p:nvPr>
            <p:ph idx="6" type="pic"/>
          </p:nvPr>
        </p:nvSpPr>
        <p:spPr>
          <a:xfrm>
            <a:off x="6080625" y="1963600"/>
            <a:ext cx="1333800" cy="1337100"/>
          </a:xfrm>
          <a:prstGeom prst="roundRect">
            <a:avLst>
              <a:gd fmla="val 14278" name="adj"/>
            </a:avLst>
          </a:prstGeom>
          <a:noFill/>
          <a:ln>
            <a:noFill/>
          </a:ln>
        </p:spPr>
      </p:sp>
      <p:sp>
        <p:nvSpPr>
          <p:cNvPr id="33" name="Google Shape;33;p4"/>
          <p:cNvSpPr/>
          <p:nvPr>
            <p:ph idx="7" type="pic"/>
          </p:nvPr>
        </p:nvSpPr>
        <p:spPr>
          <a:xfrm>
            <a:off x="7531425" y="1963600"/>
            <a:ext cx="1333800" cy="1337100"/>
          </a:xfrm>
          <a:prstGeom prst="roundRect">
            <a:avLst>
              <a:gd fmla="val 14278" name="adj"/>
            </a:avLst>
          </a:prstGeom>
          <a:noFill/>
          <a:ln>
            <a:noFill/>
          </a:ln>
        </p:spPr>
      </p:sp>
      <p:sp>
        <p:nvSpPr>
          <p:cNvPr id="34" name="Google Shape;34;p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5" name="Google Shape;35;p4"/>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6" name="Google Shape;36;p4"/>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7" name="Google Shape;37;p4"/>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 name="Google Shape;38;p4"/>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 name="Google Shape;39;p4"/>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0" name="Google Shape;40;p4"/>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1" name="Google Shape;41;p4"/>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2" name="Google Shape;42;p4"/>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3" name="Google Shape;43;p4"/>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4" name="Google Shape;44;p4"/>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5" name="Google Shape;45;p4"/>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6" name="Google Shape;46;p4"/>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7" name="Google Shape;47;p4"/>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8" name="Google Shape;48;p4"/>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9" name="Google Shape;49;p4"/>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50" name="Shape 50"/>
        <p:cNvGrpSpPr/>
        <p:nvPr/>
      </p:nvGrpSpPr>
      <p:grpSpPr>
        <a:xfrm>
          <a:off x="0" y="0"/>
          <a:ext cx="0" cy="0"/>
          <a:chOff x="0" y="0"/>
          <a:chExt cx="0" cy="0"/>
        </a:xfrm>
      </p:grpSpPr>
      <p:sp>
        <p:nvSpPr>
          <p:cNvPr id="51" name="Google Shape;51;p5"/>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2" name="Google Shape;52;p5"/>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3" name="Google Shape;53;p5"/>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4" name="Google Shape;54;p5"/>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5" name="Google Shape;55;p5"/>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6" name="Google Shape;56;p5"/>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7" name="Google Shape;57;p5"/>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8" name="Google Shape;58;p5"/>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9" name="Google Shape;59;p5"/>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0" name="Google Shape;60;p5"/>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1" name="Google Shape;61;p5"/>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2" name="Google Shape;62;p5"/>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3" name="Google Shape;63;p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4" name="Google Shape;64;p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65" name="Shape 65"/>
        <p:cNvGrpSpPr/>
        <p:nvPr/>
      </p:nvGrpSpPr>
      <p:grpSpPr>
        <a:xfrm>
          <a:off x="0" y="0"/>
          <a:ext cx="0" cy="0"/>
          <a:chOff x="0" y="0"/>
          <a:chExt cx="0" cy="0"/>
        </a:xfrm>
      </p:grpSpPr>
      <p:sp>
        <p:nvSpPr>
          <p:cNvPr id="66" name="Google Shape;66;p6"/>
          <p:cNvSpPr/>
          <p:nvPr>
            <p:ph idx="2" type="pic"/>
          </p:nvPr>
        </p:nvSpPr>
        <p:spPr>
          <a:xfrm>
            <a:off x="0" y="0"/>
            <a:ext cx="9144000" cy="5143500"/>
          </a:xfrm>
          <a:prstGeom prst="rect">
            <a:avLst/>
          </a:prstGeom>
          <a:noFill/>
          <a:ln>
            <a:noFill/>
          </a:ln>
        </p:spPr>
      </p:sp>
      <p:sp>
        <p:nvSpPr>
          <p:cNvPr id="67" name="Google Shape;67;p6"/>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68" name="Google Shape;68;p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9" name="Google Shape;69;p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0" name="Google Shape;70;p6"/>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1" name="Google Shape;71;p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72" name="Shape 72"/>
        <p:cNvGrpSpPr/>
        <p:nvPr/>
      </p:nvGrpSpPr>
      <p:grpSpPr>
        <a:xfrm>
          <a:off x="0" y="0"/>
          <a:ext cx="0" cy="0"/>
          <a:chOff x="0" y="0"/>
          <a:chExt cx="0" cy="0"/>
        </a:xfrm>
      </p:grpSpPr>
      <p:sp>
        <p:nvSpPr>
          <p:cNvPr id="73" name="Google Shape;73;p7"/>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74" name="Google Shape;74;p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5" name="Google Shape;75;p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6" name="Google Shape;76;p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7" name="Google Shape;77;p7"/>
          <p:cNvSpPr/>
          <p:nvPr>
            <p:ph idx="3" type="pic"/>
          </p:nvPr>
        </p:nvSpPr>
        <p:spPr>
          <a:xfrm>
            <a:off x="3766700" y="873150"/>
            <a:ext cx="1621800" cy="3549600"/>
          </a:xfrm>
          <a:prstGeom prst="roundRect">
            <a:avLst>
              <a:gd fmla="val 10482" name="adj"/>
            </a:avLst>
          </a:prstGeom>
          <a:noFill/>
          <a:ln>
            <a:noFill/>
          </a:ln>
        </p:spPr>
      </p:sp>
      <p:sp>
        <p:nvSpPr>
          <p:cNvPr id="78" name="Google Shape;78;p7"/>
          <p:cNvSpPr/>
          <p:nvPr>
            <p:ph idx="4" type="pic"/>
          </p:nvPr>
        </p:nvSpPr>
        <p:spPr>
          <a:xfrm>
            <a:off x="289100" y="1324475"/>
            <a:ext cx="1563300" cy="2531100"/>
          </a:xfrm>
          <a:prstGeom prst="roundRect">
            <a:avLst>
              <a:gd fmla="val 11947" name="adj"/>
            </a:avLst>
          </a:prstGeom>
          <a:noFill/>
          <a:ln>
            <a:noFill/>
          </a:ln>
        </p:spPr>
      </p:sp>
      <p:sp>
        <p:nvSpPr>
          <p:cNvPr id="79" name="Google Shape;79;p7"/>
          <p:cNvSpPr/>
          <p:nvPr>
            <p:ph idx="5" type="pic"/>
          </p:nvPr>
        </p:nvSpPr>
        <p:spPr>
          <a:xfrm>
            <a:off x="1969400" y="1142650"/>
            <a:ext cx="1563300" cy="2531100"/>
          </a:xfrm>
          <a:prstGeom prst="roundRect">
            <a:avLst>
              <a:gd fmla="val 11947" name="adj"/>
            </a:avLst>
          </a:prstGeom>
          <a:noFill/>
          <a:ln>
            <a:noFill/>
          </a:ln>
        </p:spPr>
      </p:sp>
      <p:sp>
        <p:nvSpPr>
          <p:cNvPr id="80" name="Google Shape;80;p7"/>
          <p:cNvSpPr/>
          <p:nvPr>
            <p:ph idx="6" type="pic"/>
          </p:nvPr>
        </p:nvSpPr>
        <p:spPr>
          <a:xfrm>
            <a:off x="5623125" y="1142650"/>
            <a:ext cx="1563300" cy="2531100"/>
          </a:xfrm>
          <a:prstGeom prst="roundRect">
            <a:avLst>
              <a:gd fmla="val 11947" name="adj"/>
            </a:avLst>
          </a:prstGeom>
          <a:noFill/>
          <a:ln>
            <a:noFill/>
          </a:ln>
        </p:spPr>
      </p:sp>
      <p:sp>
        <p:nvSpPr>
          <p:cNvPr id="81" name="Google Shape;81;p7"/>
          <p:cNvSpPr/>
          <p:nvPr>
            <p:ph idx="7" type="pic"/>
          </p:nvPr>
        </p:nvSpPr>
        <p:spPr>
          <a:xfrm>
            <a:off x="7304050" y="1324475"/>
            <a:ext cx="1563300" cy="2531100"/>
          </a:xfrm>
          <a:prstGeom prst="roundRect">
            <a:avLst>
              <a:gd fmla="val 11947" name="adj"/>
            </a:avLst>
          </a:prstGeom>
          <a:noFill/>
          <a:ln>
            <a:noFill/>
          </a:ln>
        </p:spPr>
      </p:sp>
      <p:sp>
        <p:nvSpPr>
          <p:cNvPr id="82" name="Google Shape;82;p7"/>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3" name="Google Shape;83;p7"/>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4" name="Google Shape;84;p7"/>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5" name="Google Shape;85;p7"/>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6" name="Google Shape;86;p7"/>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7" name="Google Shape;87;p7"/>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8" name="Google Shape;88;p7"/>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9" name="Google Shape;89;p7"/>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90" name="Shape 90"/>
        <p:cNvGrpSpPr/>
        <p:nvPr/>
      </p:nvGrpSpPr>
      <p:grpSpPr>
        <a:xfrm>
          <a:off x="0" y="0"/>
          <a:ext cx="0" cy="0"/>
          <a:chOff x="0" y="0"/>
          <a:chExt cx="0" cy="0"/>
        </a:xfrm>
      </p:grpSpPr>
      <p:sp>
        <p:nvSpPr>
          <p:cNvPr id="91" name="Google Shape;91;p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92" name="Google Shape;92;p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3" name="Google Shape;93;p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4" name="Google Shape;94;p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95" name="Shape 95"/>
        <p:cNvGrpSpPr/>
        <p:nvPr/>
      </p:nvGrpSpPr>
      <p:grpSpPr>
        <a:xfrm>
          <a:off x="0" y="0"/>
          <a:ext cx="0" cy="0"/>
          <a:chOff x="0" y="0"/>
          <a:chExt cx="0" cy="0"/>
        </a:xfrm>
      </p:grpSpPr>
      <p:pic>
        <p:nvPicPr>
          <p:cNvPr id="96" name="Google Shape;96;p9"/>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97" name="Google Shape;97;p9"/>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98" name="Google Shape;98;p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1" name="Google Shape;101;p10"/>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2" name="Google Shape;102;p10"/>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3" name="Google Shape;103;p10"/>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4" name="Google Shape;104;p10"/>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5" name="Google Shape;105;p10"/>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6" name="Google Shape;106;p1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07" name="Shape 107"/>
        <p:cNvGrpSpPr/>
        <p:nvPr/>
      </p:nvGrpSpPr>
      <p:grpSpPr>
        <a:xfrm>
          <a:off x="0" y="0"/>
          <a:ext cx="0" cy="0"/>
          <a:chOff x="0" y="0"/>
          <a:chExt cx="0" cy="0"/>
        </a:xfrm>
      </p:grpSpPr>
      <p:sp>
        <p:nvSpPr>
          <p:cNvPr id="108" name="Google Shape;108;p11"/>
          <p:cNvSpPr/>
          <p:nvPr>
            <p:ph idx="2" type="pic"/>
          </p:nvPr>
        </p:nvSpPr>
        <p:spPr>
          <a:xfrm>
            <a:off x="7480825" y="734600"/>
            <a:ext cx="1383900" cy="1660200"/>
          </a:xfrm>
          <a:prstGeom prst="roundRect">
            <a:avLst>
              <a:gd fmla="val 11646" name="adj"/>
            </a:avLst>
          </a:prstGeom>
          <a:noFill/>
          <a:ln>
            <a:noFill/>
          </a:ln>
        </p:spPr>
      </p:sp>
      <p:sp>
        <p:nvSpPr>
          <p:cNvPr id="109" name="Google Shape;109;p11"/>
          <p:cNvSpPr/>
          <p:nvPr>
            <p:ph idx="3" type="pic"/>
          </p:nvPr>
        </p:nvSpPr>
        <p:spPr>
          <a:xfrm>
            <a:off x="7480825" y="2521175"/>
            <a:ext cx="1383900" cy="1879200"/>
          </a:xfrm>
          <a:prstGeom prst="roundRect">
            <a:avLst>
              <a:gd fmla="val 11646" name="adj"/>
            </a:avLst>
          </a:prstGeom>
          <a:noFill/>
          <a:ln>
            <a:noFill/>
          </a:ln>
        </p:spPr>
      </p:sp>
      <p:sp>
        <p:nvSpPr>
          <p:cNvPr id="110" name="Google Shape;110;p11"/>
          <p:cNvSpPr/>
          <p:nvPr>
            <p:ph idx="4" type="pic"/>
          </p:nvPr>
        </p:nvSpPr>
        <p:spPr>
          <a:xfrm>
            <a:off x="4665550" y="850900"/>
            <a:ext cx="2589300" cy="3433200"/>
          </a:xfrm>
          <a:prstGeom prst="roundRect">
            <a:avLst>
              <a:gd fmla="val 6330" name="adj"/>
            </a:avLst>
          </a:prstGeom>
          <a:noFill/>
          <a:ln>
            <a:noFill/>
          </a:ln>
        </p:spPr>
      </p:sp>
      <p:sp>
        <p:nvSpPr>
          <p:cNvPr id="111" name="Google Shape;111;p1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2" name="Google Shape;112;p1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3" name="Google Shape;113;p1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4" name="Google Shape;114;p1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5" name="Google Shape;115;p1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16" name="Shape 116"/>
        <p:cNvGrpSpPr/>
        <p:nvPr/>
      </p:nvGrpSpPr>
      <p:grpSpPr>
        <a:xfrm>
          <a:off x="0" y="0"/>
          <a:ext cx="0" cy="0"/>
          <a:chOff x="0" y="0"/>
          <a:chExt cx="0" cy="0"/>
        </a:xfrm>
      </p:grpSpPr>
      <p:sp>
        <p:nvSpPr>
          <p:cNvPr id="117" name="Google Shape;117;p12"/>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8" name="Google Shape;118;p12"/>
          <p:cNvSpPr/>
          <p:nvPr>
            <p:ph idx="2" type="pic"/>
          </p:nvPr>
        </p:nvSpPr>
        <p:spPr>
          <a:xfrm>
            <a:off x="6220309" y="696000"/>
            <a:ext cx="2532900" cy="3358800"/>
          </a:xfrm>
          <a:prstGeom prst="roundRect">
            <a:avLst>
              <a:gd fmla="val 7223" name="adj"/>
            </a:avLst>
          </a:prstGeom>
          <a:noFill/>
          <a:ln>
            <a:noFill/>
          </a:ln>
        </p:spPr>
      </p:sp>
      <p:sp>
        <p:nvSpPr>
          <p:cNvPr id="119" name="Google Shape;119;p12"/>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0" name="Google Shape;120;p12"/>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1" name="Google Shape;121;p1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2" name="Google Shape;122;p12"/>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3" name="Google Shape;123;p1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6" name="Google Shape;126;p13"/>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7" name="Google Shape;127;p1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8" name="Google Shape;128;p13"/>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9" name="Google Shape;129;p1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30" name="Shape 130"/>
        <p:cNvGrpSpPr/>
        <p:nvPr/>
      </p:nvGrpSpPr>
      <p:grpSpPr>
        <a:xfrm>
          <a:off x="0" y="0"/>
          <a:ext cx="0" cy="0"/>
          <a:chOff x="0" y="0"/>
          <a:chExt cx="0" cy="0"/>
        </a:xfrm>
      </p:grpSpPr>
      <p:sp>
        <p:nvSpPr>
          <p:cNvPr id="131" name="Google Shape;131;p1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2" name="Google Shape;132;p1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3" name="Google Shape;133;p1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4" name="Google Shape;134;p1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35" name="Google Shape;135;p14"/>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 name="Google Shape;136;p14"/>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7" name="Google Shape;137;p14"/>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14"/>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39" name="Shape 139"/>
        <p:cNvGrpSpPr/>
        <p:nvPr/>
      </p:nvGrpSpPr>
      <p:grpSpPr>
        <a:xfrm>
          <a:off x="0" y="0"/>
          <a:ext cx="0" cy="0"/>
          <a:chOff x="0" y="0"/>
          <a:chExt cx="0" cy="0"/>
        </a:xfrm>
      </p:grpSpPr>
      <p:sp>
        <p:nvSpPr>
          <p:cNvPr id="140" name="Google Shape;140;p15"/>
          <p:cNvSpPr/>
          <p:nvPr>
            <p:ph idx="2" type="pic"/>
          </p:nvPr>
        </p:nvSpPr>
        <p:spPr>
          <a:xfrm>
            <a:off x="502800" y="2080575"/>
            <a:ext cx="603600" cy="603600"/>
          </a:xfrm>
          <a:prstGeom prst="ellipse">
            <a:avLst/>
          </a:prstGeom>
          <a:noFill/>
          <a:ln>
            <a:noFill/>
          </a:ln>
        </p:spPr>
      </p:sp>
      <p:sp>
        <p:nvSpPr>
          <p:cNvPr id="141" name="Google Shape;141;p15"/>
          <p:cNvSpPr/>
          <p:nvPr>
            <p:ph idx="3" type="pic"/>
          </p:nvPr>
        </p:nvSpPr>
        <p:spPr>
          <a:xfrm>
            <a:off x="6334750" y="2080575"/>
            <a:ext cx="603600" cy="603600"/>
          </a:xfrm>
          <a:prstGeom prst="ellipse">
            <a:avLst/>
          </a:prstGeom>
          <a:noFill/>
          <a:ln>
            <a:noFill/>
          </a:ln>
        </p:spPr>
      </p:sp>
      <p:sp>
        <p:nvSpPr>
          <p:cNvPr id="142" name="Google Shape;142;p15"/>
          <p:cNvSpPr/>
          <p:nvPr>
            <p:ph idx="4" type="pic"/>
          </p:nvPr>
        </p:nvSpPr>
        <p:spPr>
          <a:xfrm>
            <a:off x="3418775" y="2080550"/>
            <a:ext cx="603600" cy="603600"/>
          </a:xfrm>
          <a:prstGeom prst="ellipse">
            <a:avLst/>
          </a:prstGeom>
          <a:noFill/>
          <a:ln>
            <a:noFill/>
          </a:ln>
        </p:spPr>
      </p:sp>
      <p:sp>
        <p:nvSpPr>
          <p:cNvPr id="143" name="Google Shape;143;p1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44" name="Google Shape;144;p1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5" name="Google Shape;145;p15"/>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6" name="Google Shape;146;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47" name="Google Shape;147;p15"/>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8" name="Google Shape;148;p15"/>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15"/>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15"/>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1" name="Google Shape;151;p15"/>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2" name="Google Shape;152;p15"/>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53" name="Shape 153"/>
        <p:cNvGrpSpPr/>
        <p:nvPr/>
      </p:nvGrpSpPr>
      <p:grpSpPr>
        <a:xfrm>
          <a:off x="0" y="0"/>
          <a:ext cx="0" cy="0"/>
          <a:chOff x="0" y="0"/>
          <a:chExt cx="0" cy="0"/>
        </a:xfrm>
      </p:grpSpPr>
      <p:sp>
        <p:nvSpPr>
          <p:cNvPr id="154" name="Google Shape;154;p16"/>
          <p:cNvSpPr/>
          <p:nvPr>
            <p:ph idx="2" type="pic"/>
          </p:nvPr>
        </p:nvSpPr>
        <p:spPr>
          <a:xfrm>
            <a:off x="4644850" y="1299225"/>
            <a:ext cx="1037700" cy="1056300"/>
          </a:xfrm>
          <a:prstGeom prst="roundRect">
            <a:avLst>
              <a:gd fmla="val 12807" name="adj"/>
            </a:avLst>
          </a:prstGeom>
          <a:noFill/>
          <a:ln>
            <a:noFill/>
          </a:ln>
        </p:spPr>
      </p:sp>
      <p:sp>
        <p:nvSpPr>
          <p:cNvPr id="155" name="Google Shape;155;p16"/>
          <p:cNvSpPr/>
          <p:nvPr>
            <p:ph idx="3" type="pic"/>
          </p:nvPr>
        </p:nvSpPr>
        <p:spPr>
          <a:xfrm>
            <a:off x="4644850" y="3642825"/>
            <a:ext cx="1037700" cy="1056300"/>
          </a:xfrm>
          <a:prstGeom prst="roundRect">
            <a:avLst>
              <a:gd fmla="val 12807" name="adj"/>
            </a:avLst>
          </a:prstGeom>
          <a:noFill/>
          <a:ln>
            <a:noFill/>
          </a:ln>
        </p:spPr>
      </p:sp>
      <p:sp>
        <p:nvSpPr>
          <p:cNvPr id="156" name="Google Shape;156;p16"/>
          <p:cNvSpPr/>
          <p:nvPr>
            <p:ph idx="4" type="pic"/>
          </p:nvPr>
        </p:nvSpPr>
        <p:spPr>
          <a:xfrm>
            <a:off x="7828875" y="2471025"/>
            <a:ext cx="1037700" cy="1056300"/>
          </a:xfrm>
          <a:prstGeom prst="roundRect">
            <a:avLst>
              <a:gd fmla="val 12807" name="adj"/>
            </a:avLst>
          </a:prstGeom>
          <a:noFill/>
          <a:ln>
            <a:noFill/>
          </a:ln>
        </p:spPr>
      </p:sp>
      <p:sp>
        <p:nvSpPr>
          <p:cNvPr id="157" name="Google Shape;157;p16"/>
          <p:cNvSpPr/>
          <p:nvPr>
            <p:ph idx="5" type="pic"/>
          </p:nvPr>
        </p:nvSpPr>
        <p:spPr>
          <a:xfrm>
            <a:off x="373175" y="1147525"/>
            <a:ext cx="3579900" cy="3607500"/>
          </a:xfrm>
          <a:prstGeom prst="roundRect">
            <a:avLst>
              <a:gd fmla="val 11548" name="adj"/>
            </a:avLst>
          </a:prstGeom>
          <a:noFill/>
          <a:ln>
            <a:noFill/>
          </a:ln>
        </p:spPr>
      </p:sp>
      <p:sp>
        <p:nvSpPr>
          <p:cNvPr id="158" name="Google Shape;158;p16"/>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59" name="Google Shape;159;p1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16"/>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1" name="Google Shape;161;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62" name="Google Shape;162;p16"/>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3" name="Google Shape;163;p16"/>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4" name="Google Shape;164;p16"/>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5" name="Google Shape;165;p16"/>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6" name="Google Shape;166;p16"/>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7" name="Google Shape;167;p16"/>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168" name="Shape 168"/>
        <p:cNvGrpSpPr/>
        <p:nvPr/>
      </p:nvGrpSpPr>
      <p:grpSpPr>
        <a:xfrm>
          <a:off x="0" y="0"/>
          <a:ext cx="0" cy="0"/>
          <a:chOff x="0" y="0"/>
          <a:chExt cx="0" cy="0"/>
        </a:xfrm>
      </p:grpSpPr>
      <p:sp>
        <p:nvSpPr>
          <p:cNvPr id="169" name="Google Shape;169;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0" name="Google Shape;170;p1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1" name="Google Shape;171;p1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2" name="Google Shape;172;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73" name="Google Shape;173;p17"/>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4" name="Google Shape;174;p17"/>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5" name="Google Shape;175;p17"/>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6" name="Google Shape;176;p17"/>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7" name="Google Shape;177;p17"/>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8" name="Google Shape;178;p17"/>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9" name="Google Shape;179;p17"/>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80" name="Google Shape;180;p17"/>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181" name="Shape 181"/>
        <p:cNvGrpSpPr/>
        <p:nvPr/>
      </p:nvGrpSpPr>
      <p:grpSpPr>
        <a:xfrm>
          <a:off x="0" y="0"/>
          <a:ext cx="0" cy="0"/>
          <a:chOff x="0" y="0"/>
          <a:chExt cx="0" cy="0"/>
        </a:xfrm>
      </p:grpSpPr>
      <p:sp>
        <p:nvSpPr>
          <p:cNvPr id="182" name="Google Shape;182;p18"/>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83" name="Google Shape;183;p18"/>
          <p:cNvSpPr/>
          <p:nvPr>
            <p:ph idx="2" type="pic"/>
          </p:nvPr>
        </p:nvSpPr>
        <p:spPr>
          <a:xfrm>
            <a:off x="392100" y="411300"/>
            <a:ext cx="4297500" cy="4333200"/>
          </a:xfrm>
          <a:prstGeom prst="roundRect">
            <a:avLst>
              <a:gd fmla="val 12298" name="adj"/>
            </a:avLst>
          </a:prstGeom>
          <a:noFill/>
          <a:ln>
            <a:noFill/>
          </a:ln>
        </p:spPr>
      </p:sp>
      <p:sp>
        <p:nvSpPr>
          <p:cNvPr id="184" name="Google Shape;184;p18"/>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85" name="Google Shape;185;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186" name="Shape 186"/>
        <p:cNvGrpSpPr/>
        <p:nvPr/>
      </p:nvGrpSpPr>
      <p:grpSpPr>
        <a:xfrm>
          <a:off x="0" y="0"/>
          <a:ext cx="0" cy="0"/>
          <a:chOff x="0" y="0"/>
          <a:chExt cx="0" cy="0"/>
        </a:xfrm>
      </p:grpSpPr>
      <p:sp>
        <p:nvSpPr>
          <p:cNvPr id="187" name="Google Shape;187;p19"/>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88" name="Google Shape;188;p19"/>
          <p:cNvSpPr/>
          <p:nvPr>
            <p:ph idx="2" type="pic"/>
          </p:nvPr>
        </p:nvSpPr>
        <p:spPr>
          <a:xfrm>
            <a:off x="289100" y="1685250"/>
            <a:ext cx="1751100" cy="1773000"/>
          </a:xfrm>
          <a:prstGeom prst="roundRect">
            <a:avLst>
              <a:gd fmla="val 11894" name="adj"/>
            </a:avLst>
          </a:prstGeom>
          <a:noFill/>
          <a:ln>
            <a:noFill/>
          </a:ln>
        </p:spPr>
      </p:sp>
      <p:sp>
        <p:nvSpPr>
          <p:cNvPr id="189" name="Google Shape;189;p19"/>
          <p:cNvSpPr/>
          <p:nvPr>
            <p:ph idx="3" type="pic"/>
          </p:nvPr>
        </p:nvSpPr>
        <p:spPr>
          <a:xfrm>
            <a:off x="2152200" y="1685250"/>
            <a:ext cx="1751100" cy="1773000"/>
          </a:xfrm>
          <a:prstGeom prst="roundRect">
            <a:avLst>
              <a:gd fmla="val 11894" name="adj"/>
            </a:avLst>
          </a:prstGeom>
          <a:noFill/>
          <a:ln>
            <a:noFill/>
          </a:ln>
        </p:spPr>
      </p:sp>
      <p:sp>
        <p:nvSpPr>
          <p:cNvPr id="190" name="Google Shape;190;p19"/>
          <p:cNvSpPr/>
          <p:nvPr>
            <p:ph idx="4" type="pic"/>
          </p:nvPr>
        </p:nvSpPr>
        <p:spPr>
          <a:xfrm>
            <a:off x="4015300" y="1685250"/>
            <a:ext cx="1751100" cy="1773000"/>
          </a:xfrm>
          <a:prstGeom prst="roundRect">
            <a:avLst>
              <a:gd fmla="val 11894" name="adj"/>
            </a:avLst>
          </a:prstGeom>
          <a:noFill/>
          <a:ln>
            <a:noFill/>
          </a:ln>
        </p:spPr>
      </p:sp>
      <p:sp>
        <p:nvSpPr>
          <p:cNvPr id="191" name="Google Shape;191;p19"/>
          <p:cNvSpPr/>
          <p:nvPr>
            <p:ph idx="5" type="pic"/>
          </p:nvPr>
        </p:nvSpPr>
        <p:spPr>
          <a:xfrm>
            <a:off x="5866250" y="1685250"/>
            <a:ext cx="1751100" cy="1773000"/>
          </a:xfrm>
          <a:prstGeom prst="roundRect">
            <a:avLst>
              <a:gd fmla="val 11894" name="adj"/>
            </a:avLst>
          </a:prstGeom>
          <a:noFill/>
          <a:ln>
            <a:noFill/>
          </a:ln>
        </p:spPr>
      </p:sp>
      <p:sp>
        <p:nvSpPr>
          <p:cNvPr id="192" name="Google Shape;192;p19"/>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193" name="Google Shape;193;p19"/>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4" name="Google Shape;194;p19"/>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5" name="Google Shape;195;p19"/>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6" name="Google Shape;196;p19"/>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7" name="Google Shape;197;p19"/>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8" name="Google Shape;198;p19"/>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9" name="Google Shape;199;p1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0" name="Google Shape;200;p19"/>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1" name="Google Shape;201;p19"/>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2" name="Google Shape;202;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392100" y="411300"/>
            <a:ext cx="4915800" cy="4333200"/>
          </a:xfrm>
          <a:prstGeom prst="roundRect">
            <a:avLst>
              <a:gd fmla="val 11160" name="adj"/>
            </a:avLst>
          </a:prstGeom>
          <a:noFill/>
          <a:ln>
            <a:noFill/>
          </a:ln>
        </p:spPr>
      </p:sp>
      <p:sp>
        <p:nvSpPr>
          <p:cNvPr id="205" name="Google Shape;205;p20"/>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6" name="Google Shape;206;p20"/>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7" name="Google Shape;207;p2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8" name="Google Shape;208;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09" name="Shape 209"/>
        <p:cNvGrpSpPr/>
        <p:nvPr/>
      </p:nvGrpSpPr>
      <p:grpSpPr>
        <a:xfrm>
          <a:off x="0" y="0"/>
          <a:ext cx="0" cy="0"/>
          <a:chOff x="0" y="0"/>
          <a:chExt cx="0" cy="0"/>
        </a:xfrm>
      </p:grpSpPr>
      <p:sp>
        <p:nvSpPr>
          <p:cNvPr id="210" name="Google Shape;210;p21"/>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1" name="Google Shape;211;p21"/>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2" name="Google Shape;212;p21"/>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13" name="Google Shape;213;p21"/>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14" name="Google Shape;214;p21"/>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15" name="Google Shape;215;p21"/>
          <p:cNvSpPr/>
          <p:nvPr>
            <p:ph idx="2" type="pic"/>
          </p:nvPr>
        </p:nvSpPr>
        <p:spPr>
          <a:xfrm>
            <a:off x="3910200" y="3408075"/>
            <a:ext cx="3486300" cy="1447800"/>
          </a:xfrm>
          <a:prstGeom prst="roundRect">
            <a:avLst>
              <a:gd fmla="val 16397" name="adj"/>
            </a:avLst>
          </a:prstGeom>
          <a:noFill/>
          <a:ln>
            <a:noFill/>
          </a:ln>
        </p:spPr>
      </p:sp>
      <p:sp>
        <p:nvSpPr>
          <p:cNvPr id="216" name="Google Shape;216;p21"/>
          <p:cNvSpPr/>
          <p:nvPr>
            <p:ph idx="3" type="pic"/>
          </p:nvPr>
        </p:nvSpPr>
        <p:spPr>
          <a:xfrm>
            <a:off x="277500" y="277500"/>
            <a:ext cx="2765700" cy="3013800"/>
          </a:xfrm>
          <a:prstGeom prst="roundRect">
            <a:avLst>
              <a:gd fmla="val 8721" name="adj"/>
            </a:avLst>
          </a:prstGeom>
          <a:noFill/>
          <a:ln>
            <a:noFill/>
          </a:ln>
        </p:spPr>
      </p:sp>
      <p:sp>
        <p:nvSpPr>
          <p:cNvPr id="217" name="Google Shape;217;p21"/>
          <p:cNvSpPr/>
          <p:nvPr>
            <p:ph idx="4" type="pic"/>
          </p:nvPr>
        </p:nvSpPr>
        <p:spPr>
          <a:xfrm>
            <a:off x="3161225" y="277500"/>
            <a:ext cx="1350600" cy="1447800"/>
          </a:xfrm>
          <a:prstGeom prst="roundRect">
            <a:avLst>
              <a:gd fmla="val 15267" name="adj"/>
            </a:avLst>
          </a:prstGeom>
          <a:noFill/>
          <a:ln>
            <a:noFill/>
          </a:ln>
        </p:spPr>
      </p:sp>
      <p:sp>
        <p:nvSpPr>
          <p:cNvPr id="218" name="Google Shape;218;p21"/>
          <p:cNvSpPr/>
          <p:nvPr>
            <p:ph idx="5" type="pic"/>
          </p:nvPr>
        </p:nvSpPr>
        <p:spPr>
          <a:xfrm>
            <a:off x="6883575" y="399550"/>
            <a:ext cx="1866000" cy="2775000"/>
          </a:xfrm>
          <a:prstGeom prst="roundRect">
            <a:avLst>
              <a:gd fmla="val 9097" name="adj"/>
            </a:avLst>
          </a:prstGeom>
          <a:noFill/>
          <a:ln>
            <a:noFill/>
          </a:ln>
        </p:spPr>
      </p:sp>
      <p:sp>
        <p:nvSpPr>
          <p:cNvPr id="219" name="Google Shape;219;p21"/>
          <p:cNvSpPr/>
          <p:nvPr>
            <p:ph idx="6" type="pic"/>
          </p:nvPr>
        </p:nvSpPr>
        <p:spPr>
          <a:xfrm>
            <a:off x="7516025" y="3407700"/>
            <a:ext cx="1350600" cy="1447800"/>
          </a:xfrm>
          <a:prstGeom prst="roundRect">
            <a:avLst>
              <a:gd fmla="val 16397" name="adj"/>
            </a:avLst>
          </a:prstGeom>
          <a:noFill/>
          <a:ln>
            <a:noFill/>
          </a:ln>
        </p:spPr>
      </p:sp>
      <p:sp>
        <p:nvSpPr>
          <p:cNvPr id="220" name="Google Shape;220;p21"/>
          <p:cNvSpPr/>
          <p:nvPr>
            <p:ph idx="7" type="pic"/>
          </p:nvPr>
        </p:nvSpPr>
        <p:spPr>
          <a:xfrm>
            <a:off x="394425" y="3528475"/>
            <a:ext cx="3279600" cy="1218900"/>
          </a:xfrm>
          <a:prstGeom prst="roundRect">
            <a:avLst>
              <a:gd fmla="val 11412" name="adj"/>
            </a:avLst>
          </a:prstGeom>
          <a:noFill/>
          <a:ln>
            <a:noFill/>
          </a:ln>
        </p:spPr>
      </p:sp>
      <p:sp>
        <p:nvSpPr>
          <p:cNvPr id="221" name="Google Shape;221;p21"/>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22" name="Google Shape;222;p21"/>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23" name="Google Shape;223;p21"/>
          <p:cNvCxnSpPr>
            <a:stCxn id="221" idx="1"/>
            <a:endCxn id="221"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24" name="Google Shape;224;p21"/>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25" name="Google Shape;225;p21"/>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26" name="Google Shape;226;p21"/>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27" name="Google Shape;227;p21"/>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28" name="Google Shape;228;p21"/>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29" name="Google Shape;229;p21"/>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30" name="Google Shape;230;p21"/>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1" name="Google Shape;231;p21"/>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2" name="Google Shape;232;p21"/>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3" name="Google Shape;233;p21"/>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4" name="Google Shape;234;p21"/>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35" name="Google Shape;235;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36" name="Google Shape;236;p21"/>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37" name="Shape 237"/>
        <p:cNvGrpSpPr/>
        <p:nvPr/>
      </p:nvGrpSpPr>
      <p:grpSpPr>
        <a:xfrm>
          <a:off x="0" y="0"/>
          <a:ext cx="0" cy="0"/>
          <a:chOff x="0" y="0"/>
          <a:chExt cx="0" cy="0"/>
        </a:xfrm>
      </p:grpSpPr>
      <p:sp>
        <p:nvSpPr>
          <p:cNvPr id="238" name="Google Shape;238;p22"/>
          <p:cNvSpPr/>
          <p:nvPr>
            <p:ph idx="2" type="pic"/>
          </p:nvPr>
        </p:nvSpPr>
        <p:spPr>
          <a:xfrm>
            <a:off x="2021325" y="1854425"/>
            <a:ext cx="1679100" cy="3013800"/>
          </a:xfrm>
          <a:prstGeom prst="roundRect">
            <a:avLst>
              <a:gd fmla="val 13643" name="adj"/>
            </a:avLst>
          </a:prstGeom>
          <a:noFill/>
          <a:ln>
            <a:noFill/>
          </a:ln>
        </p:spPr>
      </p:sp>
      <p:sp>
        <p:nvSpPr>
          <p:cNvPr id="239" name="Google Shape;239;p22"/>
          <p:cNvSpPr/>
          <p:nvPr>
            <p:ph idx="3" type="pic"/>
          </p:nvPr>
        </p:nvSpPr>
        <p:spPr>
          <a:xfrm>
            <a:off x="5444400" y="1854425"/>
            <a:ext cx="1679100" cy="3013800"/>
          </a:xfrm>
          <a:prstGeom prst="roundRect">
            <a:avLst>
              <a:gd fmla="val 13643" name="adj"/>
            </a:avLst>
          </a:prstGeom>
          <a:noFill/>
          <a:ln>
            <a:noFill/>
          </a:ln>
        </p:spPr>
      </p:sp>
      <p:sp>
        <p:nvSpPr>
          <p:cNvPr id="240" name="Google Shape;240;p22"/>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22"/>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2" name="Google Shape;242;p22"/>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22"/>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4" name="Google Shape;244;p2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22"/>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22"/>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8" name="Shape 248"/>
        <p:cNvGrpSpPr/>
        <p:nvPr/>
      </p:nvGrpSpPr>
      <p:grpSpPr>
        <a:xfrm>
          <a:off x="0" y="0"/>
          <a:ext cx="0" cy="0"/>
          <a:chOff x="0" y="0"/>
          <a:chExt cx="0" cy="0"/>
        </a:xfrm>
      </p:grpSpPr>
      <p:sp>
        <p:nvSpPr>
          <p:cNvPr id="249" name="Google Shape;249;p23"/>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50" name="Google Shape;250;p23"/>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3" name="Shape 253"/>
        <p:cNvGrpSpPr/>
        <p:nvPr/>
      </p:nvGrpSpPr>
      <p:grpSpPr>
        <a:xfrm>
          <a:off x="0" y="0"/>
          <a:ext cx="0" cy="0"/>
          <a:chOff x="0" y="0"/>
          <a:chExt cx="0" cy="0"/>
        </a:xfrm>
      </p:grpSpPr>
      <p:sp>
        <p:nvSpPr>
          <p:cNvPr id="254" name="Google Shape;254;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25"/>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6" name="Shape 256"/>
        <p:cNvGrpSpPr/>
        <p:nvPr/>
      </p:nvGrpSpPr>
      <p:grpSpPr>
        <a:xfrm>
          <a:off x="0" y="0"/>
          <a:ext cx="0" cy="0"/>
          <a:chOff x="0" y="0"/>
          <a:chExt cx="0" cy="0"/>
        </a:xfrm>
      </p:grpSpPr>
      <p:sp>
        <p:nvSpPr>
          <p:cNvPr id="257" name="Google Shape;25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8" name="Google Shape;258;p26"/>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26"/>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4" name="Google Shape;264;p28"/>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5" name="Shape 265"/>
        <p:cNvGrpSpPr/>
        <p:nvPr/>
      </p:nvGrpSpPr>
      <p:grpSpPr>
        <a:xfrm>
          <a:off x="0" y="0"/>
          <a:ext cx="0" cy="0"/>
          <a:chOff x="0" y="0"/>
          <a:chExt cx="0" cy="0"/>
        </a:xfrm>
      </p:grpSpPr>
      <p:sp>
        <p:nvSpPr>
          <p:cNvPr id="266" name="Google Shape;266;p29"/>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7" name="Shape 267"/>
        <p:cNvGrpSpPr/>
        <p:nvPr/>
      </p:nvGrpSpPr>
      <p:grpSpPr>
        <a:xfrm>
          <a:off x="0" y="0"/>
          <a:ext cx="0" cy="0"/>
          <a:chOff x="0" y="0"/>
          <a:chExt cx="0" cy="0"/>
        </a:xfrm>
      </p:grpSpPr>
      <p:sp>
        <p:nvSpPr>
          <p:cNvPr id="268" name="Google Shape;268;p30"/>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9" name="Google Shape;269;p30"/>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0" name="Google Shape;270;p30"/>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1" name="Shape 271"/>
        <p:cNvGrpSpPr/>
        <p:nvPr/>
      </p:nvGrpSpPr>
      <p:grpSpPr>
        <a:xfrm>
          <a:off x="0" y="0"/>
          <a:ext cx="0" cy="0"/>
          <a:chOff x="0" y="0"/>
          <a:chExt cx="0" cy="0"/>
        </a:xfrm>
      </p:grpSpPr>
      <p:sp>
        <p:nvSpPr>
          <p:cNvPr id="272" name="Google Shape;272;p31"/>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3" name="Shape 273"/>
        <p:cNvGrpSpPr/>
        <p:nvPr/>
      </p:nvGrpSpPr>
      <p:grpSpPr>
        <a:xfrm>
          <a:off x="0" y="0"/>
          <a:ext cx="0" cy="0"/>
          <a:chOff x="0" y="0"/>
          <a:chExt cx="0" cy="0"/>
        </a:xfrm>
      </p:grpSpPr>
      <p:sp>
        <p:nvSpPr>
          <p:cNvPr id="274" name="Google Shape;274;p32"/>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75" name="Google Shape;275;p32"/>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6" name="Shape 2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7" name="Shape 277"/>
        <p:cNvGrpSpPr/>
        <p:nvPr/>
      </p:nvGrpSpPr>
      <p:grpSpPr>
        <a:xfrm>
          <a:off x="0" y="0"/>
          <a:ext cx="0" cy="0"/>
          <a:chOff x="0" y="0"/>
          <a:chExt cx="0" cy="0"/>
        </a:xfrm>
      </p:grpSpPr>
      <p:sp>
        <p:nvSpPr>
          <p:cNvPr id="278" name="Google Shape;278;p34"/>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4"/>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4"/>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4"/>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4"/>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34"/>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34"/>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7" name="Google Shape;287;p35"/>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9" name="Shape 289"/>
        <p:cNvGrpSpPr/>
        <p:nvPr/>
      </p:nvGrpSpPr>
      <p:grpSpPr>
        <a:xfrm>
          <a:off x="0" y="0"/>
          <a:ext cx="0" cy="0"/>
          <a:chOff x="0" y="0"/>
          <a:chExt cx="0" cy="0"/>
        </a:xfrm>
      </p:grpSpPr>
      <p:sp>
        <p:nvSpPr>
          <p:cNvPr id="290" name="Google Shape;290;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1" name="Google Shape;291;p36"/>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6"/>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36"/>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36"/>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5" name="Shape 295"/>
        <p:cNvGrpSpPr/>
        <p:nvPr/>
      </p:nvGrpSpPr>
      <p:grpSpPr>
        <a:xfrm>
          <a:off x="0" y="0"/>
          <a:ext cx="0" cy="0"/>
          <a:chOff x="0" y="0"/>
          <a:chExt cx="0" cy="0"/>
        </a:xfrm>
      </p:grpSpPr>
      <p:sp>
        <p:nvSpPr>
          <p:cNvPr id="296" name="Google Shape;296;p37"/>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7"/>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8" name="Google Shape;298;p37"/>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9" name="Google Shape;299;p3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1" name="Google Shape;301;p3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37"/>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3" name="Shape 303"/>
        <p:cNvGrpSpPr/>
        <p:nvPr/>
      </p:nvGrpSpPr>
      <p:grpSpPr>
        <a:xfrm>
          <a:off x="0" y="0"/>
          <a:ext cx="0" cy="0"/>
          <a:chOff x="0" y="0"/>
          <a:chExt cx="0" cy="0"/>
        </a:xfrm>
      </p:grpSpPr>
      <p:sp>
        <p:nvSpPr>
          <p:cNvPr id="304" name="Google Shape;304;p38"/>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38"/>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8"/>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38"/>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8"/>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9" name="Google Shape;309;p38"/>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38"/>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38"/>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2" name="Google Shape;312;p38"/>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5" name="Google Shape;315;p3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0"/>
          <p:cNvSpPr/>
          <p:nvPr>
            <p:ph idx="2" type="pic"/>
          </p:nvPr>
        </p:nvSpPr>
        <p:spPr>
          <a:xfrm>
            <a:off x="4804825" y="1133300"/>
            <a:ext cx="4027500" cy="2392800"/>
          </a:xfrm>
          <a:prstGeom prst="rect">
            <a:avLst/>
          </a:prstGeom>
          <a:noFill/>
          <a:ln>
            <a:noFill/>
          </a:ln>
        </p:spPr>
      </p:sp>
      <p:sp>
        <p:nvSpPr>
          <p:cNvPr id="319" name="Google Shape;319;p40"/>
          <p:cNvSpPr/>
          <p:nvPr>
            <p:ph idx="3" type="pic"/>
          </p:nvPr>
        </p:nvSpPr>
        <p:spPr>
          <a:xfrm>
            <a:off x="311725" y="1133300"/>
            <a:ext cx="4027500" cy="2392800"/>
          </a:xfrm>
          <a:prstGeom prst="rect">
            <a:avLst/>
          </a:prstGeom>
          <a:noFill/>
          <a:ln>
            <a:noFill/>
          </a:ln>
        </p:spPr>
      </p:sp>
      <p:sp>
        <p:nvSpPr>
          <p:cNvPr id="320" name="Google Shape;320;p40"/>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1" name="Google Shape;321;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2" name="Google Shape;322;p40"/>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0"/>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4" name="Shape 324"/>
        <p:cNvGrpSpPr/>
        <p:nvPr/>
      </p:nvGrpSpPr>
      <p:grpSpPr>
        <a:xfrm>
          <a:off x="0" y="0"/>
          <a:ext cx="0" cy="0"/>
          <a:chOff x="0" y="0"/>
          <a:chExt cx="0" cy="0"/>
        </a:xfrm>
      </p:grpSpPr>
      <p:sp>
        <p:nvSpPr>
          <p:cNvPr id="325" name="Google Shape;325;p41"/>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6" name="Google Shape;326;p41"/>
          <p:cNvSpPr/>
          <p:nvPr>
            <p:ph idx="2" type="pic"/>
          </p:nvPr>
        </p:nvSpPr>
        <p:spPr>
          <a:xfrm>
            <a:off x="6205225" y="1128325"/>
            <a:ext cx="2627100" cy="2273100"/>
          </a:xfrm>
          <a:prstGeom prst="rect">
            <a:avLst/>
          </a:prstGeom>
          <a:noFill/>
          <a:ln>
            <a:noFill/>
          </a:ln>
        </p:spPr>
      </p:sp>
      <p:sp>
        <p:nvSpPr>
          <p:cNvPr id="327" name="Google Shape;327;p41"/>
          <p:cNvSpPr/>
          <p:nvPr>
            <p:ph idx="3" type="pic"/>
          </p:nvPr>
        </p:nvSpPr>
        <p:spPr>
          <a:xfrm>
            <a:off x="311725" y="1128325"/>
            <a:ext cx="2627100" cy="2273100"/>
          </a:xfrm>
          <a:prstGeom prst="rect">
            <a:avLst/>
          </a:prstGeom>
          <a:noFill/>
          <a:ln>
            <a:noFill/>
          </a:ln>
        </p:spPr>
      </p:sp>
      <p:sp>
        <p:nvSpPr>
          <p:cNvPr id="328" name="Google Shape;328;p41"/>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1"/>
          <p:cNvSpPr/>
          <p:nvPr>
            <p:ph idx="5" type="pic"/>
          </p:nvPr>
        </p:nvSpPr>
        <p:spPr>
          <a:xfrm>
            <a:off x="3255250" y="1128325"/>
            <a:ext cx="2627100" cy="2273100"/>
          </a:xfrm>
          <a:prstGeom prst="rect">
            <a:avLst/>
          </a:prstGeom>
          <a:noFill/>
          <a:ln>
            <a:noFill/>
          </a:ln>
        </p:spPr>
      </p:sp>
      <p:sp>
        <p:nvSpPr>
          <p:cNvPr id="330" name="Google Shape;330;p41"/>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1"/>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3" name="Google Shape;333;p41"/>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4" name="Google Shape;334;p41"/>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5" name="Shape 335"/>
        <p:cNvGrpSpPr/>
        <p:nvPr/>
      </p:nvGrpSpPr>
      <p:grpSpPr>
        <a:xfrm>
          <a:off x="0" y="0"/>
          <a:ext cx="0" cy="0"/>
          <a:chOff x="0" y="0"/>
          <a:chExt cx="0" cy="0"/>
        </a:xfrm>
      </p:grpSpPr>
      <p:sp>
        <p:nvSpPr>
          <p:cNvPr id="336" name="Google Shape;336;p4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7" name="Shape 337"/>
        <p:cNvGrpSpPr/>
        <p:nvPr/>
      </p:nvGrpSpPr>
      <p:grpSpPr>
        <a:xfrm>
          <a:off x="0" y="0"/>
          <a:ext cx="0" cy="0"/>
          <a:chOff x="0" y="0"/>
          <a:chExt cx="0" cy="0"/>
        </a:xfrm>
      </p:grpSpPr>
      <p:sp>
        <p:nvSpPr>
          <p:cNvPr id="338" name="Google Shape;338;p43"/>
          <p:cNvSpPr/>
          <p:nvPr>
            <p:ph idx="2" type="pic"/>
          </p:nvPr>
        </p:nvSpPr>
        <p:spPr>
          <a:xfrm>
            <a:off x="3389600" y="118913"/>
            <a:ext cx="1643700" cy="1535100"/>
          </a:xfrm>
          <a:prstGeom prst="rect">
            <a:avLst/>
          </a:prstGeom>
          <a:noFill/>
          <a:ln>
            <a:noFill/>
          </a:ln>
        </p:spPr>
      </p:sp>
      <p:sp>
        <p:nvSpPr>
          <p:cNvPr id="339" name="Google Shape;339;p43"/>
          <p:cNvSpPr/>
          <p:nvPr>
            <p:ph idx="3" type="pic"/>
          </p:nvPr>
        </p:nvSpPr>
        <p:spPr>
          <a:xfrm>
            <a:off x="5195935" y="118913"/>
            <a:ext cx="1643700" cy="1535100"/>
          </a:xfrm>
          <a:prstGeom prst="rect">
            <a:avLst/>
          </a:prstGeom>
          <a:noFill/>
          <a:ln>
            <a:noFill/>
          </a:ln>
        </p:spPr>
      </p:sp>
      <p:sp>
        <p:nvSpPr>
          <p:cNvPr id="340" name="Google Shape;340;p43"/>
          <p:cNvSpPr/>
          <p:nvPr>
            <p:ph idx="4" type="pic"/>
          </p:nvPr>
        </p:nvSpPr>
        <p:spPr>
          <a:xfrm>
            <a:off x="7002270" y="118913"/>
            <a:ext cx="1643700" cy="1535100"/>
          </a:xfrm>
          <a:prstGeom prst="rect">
            <a:avLst/>
          </a:prstGeom>
          <a:noFill/>
          <a:ln>
            <a:noFill/>
          </a:ln>
        </p:spPr>
      </p:sp>
      <p:sp>
        <p:nvSpPr>
          <p:cNvPr id="341" name="Google Shape;341;p43"/>
          <p:cNvSpPr/>
          <p:nvPr>
            <p:ph idx="5" type="pic"/>
          </p:nvPr>
        </p:nvSpPr>
        <p:spPr>
          <a:xfrm>
            <a:off x="3389588" y="1804212"/>
            <a:ext cx="1643700" cy="1535100"/>
          </a:xfrm>
          <a:prstGeom prst="rect">
            <a:avLst/>
          </a:prstGeom>
          <a:noFill/>
          <a:ln>
            <a:noFill/>
          </a:ln>
        </p:spPr>
      </p:sp>
      <p:sp>
        <p:nvSpPr>
          <p:cNvPr id="342" name="Google Shape;342;p43"/>
          <p:cNvSpPr/>
          <p:nvPr>
            <p:ph idx="6" type="pic"/>
          </p:nvPr>
        </p:nvSpPr>
        <p:spPr>
          <a:xfrm>
            <a:off x="5195922" y="1804212"/>
            <a:ext cx="1643700" cy="1535100"/>
          </a:xfrm>
          <a:prstGeom prst="rect">
            <a:avLst/>
          </a:prstGeom>
          <a:noFill/>
          <a:ln>
            <a:noFill/>
          </a:ln>
        </p:spPr>
      </p:sp>
      <p:sp>
        <p:nvSpPr>
          <p:cNvPr id="343" name="Google Shape;343;p43"/>
          <p:cNvSpPr/>
          <p:nvPr>
            <p:ph idx="7" type="pic"/>
          </p:nvPr>
        </p:nvSpPr>
        <p:spPr>
          <a:xfrm>
            <a:off x="7002257" y="1804212"/>
            <a:ext cx="1643700" cy="1535100"/>
          </a:xfrm>
          <a:prstGeom prst="rect">
            <a:avLst/>
          </a:prstGeom>
          <a:noFill/>
          <a:ln>
            <a:noFill/>
          </a:ln>
        </p:spPr>
      </p:sp>
      <p:sp>
        <p:nvSpPr>
          <p:cNvPr id="344" name="Google Shape;344;p43"/>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5" name="Google Shape;345;p43"/>
          <p:cNvSpPr/>
          <p:nvPr>
            <p:ph idx="8" type="pic"/>
          </p:nvPr>
        </p:nvSpPr>
        <p:spPr>
          <a:xfrm>
            <a:off x="3389588" y="3489487"/>
            <a:ext cx="1643700" cy="1535100"/>
          </a:xfrm>
          <a:prstGeom prst="rect">
            <a:avLst/>
          </a:prstGeom>
          <a:noFill/>
          <a:ln>
            <a:noFill/>
          </a:ln>
        </p:spPr>
      </p:sp>
      <p:sp>
        <p:nvSpPr>
          <p:cNvPr id="346" name="Google Shape;346;p43"/>
          <p:cNvSpPr/>
          <p:nvPr>
            <p:ph idx="9" type="pic"/>
          </p:nvPr>
        </p:nvSpPr>
        <p:spPr>
          <a:xfrm>
            <a:off x="5195922" y="3489487"/>
            <a:ext cx="1643700" cy="1535100"/>
          </a:xfrm>
          <a:prstGeom prst="rect">
            <a:avLst/>
          </a:prstGeom>
          <a:noFill/>
          <a:ln>
            <a:noFill/>
          </a:ln>
        </p:spPr>
      </p:sp>
      <p:sp>
        <p:nvSpPr>
          <p:cNvPr id="347" name="Google Shape;347;p4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1">
  <p:cSld name="Custom main point (g39a673680fc_8_0)">
    <p:bg>
      <p:bgPr>
        <a:solidFill>
          <a:schemeClr val="accent5"/>
        </a:solidFill>
      </p:bgPr>
    </p:bg>
    <p:spTree>
      <p:nvGrpSpPr>
        <p:cNvPr id="348" name="Shape 348"/>
        <p:cNvGrpSpPr/>
        <p:nvPr/>
      </p:nvGrpSpPr>
      <p:grpSpPr>
        <a:xfrm>
          <a:off x="0" y="0"/>
          <a:ext cx="0" cy="0"/>
          <a:chOff x="0" y="0"/>
          <a:chExt cx="0" cy="0"/>
        </a:xfrm>
      </p:grpSpPr>
      <p:sp>
        <p:nvSpPr>
          <p:cNvPr id="349" name="Google Shape;349;p44"/>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350" name="Google Shape;350;p4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2">
  <p:cSld name="Custom main point (g39a673680fc_24_0)">
    <p:bg>
      <p:bgPr>
        <a:solidFill>
          <a:schemeClr val="accent5"/>
        </a:solidFill>
      </p:bgPr>
    </p:bg>
    <p:spTree>
      <p:nvGrpSpPr>
        <p:cNvPr id="351" name="Shape 351"/>
        <p:cNvGrpSpPr/>
        <p:nvPr/>
      </p:nvGrpSpPr>
      <p:grpSpPr>
        <a:xfrm>
          <a:off x="0" y="0"/>
          <a:ext cx="0" cy="0"/>
          <a:chOff x="0" y="0"/>
          <a:chExt cx="0" cy="0"/>
        </a:xfrm>
      </p:grpSpPr>
      <p:sp>
        <p:nvSpPr>
          <p:cNvPr id="352" name="Google Shape;352;p45"/>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353" name="Google Shape;353;p4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3">
  <p:cSld name="Custom main point (g39a673680fc_46_0)">
    <p:bg>
      <p:bgPr>
        <a:solidFill>
          <a:schemeClr val="accent5"/>
        </a:solidFill>
      </p:bgPr>
    </p:bg>
    <p:spTree>
      <p:nvGrpSpPr>
        <p:cNvPr id="354" name="Shape 354"/>
        <p:cNvGrpSpPr/>
        <p:nvPr/>
      </p:nvGrpSpPr>
      <p:grpSpPr>
        <a:xfrm>
          <a:off x="0" y="0"/>
          <a:ext cx="0" cy="0"/>
          <a:chOff x="0" y="0"/>
          <a:chExt cx="0" cy="0"/>
        </a:xfrm>
      </p:grpSpPr>
      <p:sp>
        <p:nvSpPr>
          <p:cNvPr id="355" name="Google Shape;355;p46"/>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356" name="Google Shape;356;p4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4">
  <p:cSld name="Custom main point (g39a673680fc_54_0)">
    <p:bg>
      <p:bgPr>
        <a:solidFill>
          <a:schemeClr val="accent5"/>
        </a:solidFill>
      </p:bgPr>
    </p:bg>
    <p:spTree>
      <p:nvGrpSpPr>
        <p:cNvPr id="357" name="Shape 357"/>
        <p:cNvGrpSpPr/>
        <p:nvPr/>
      </p:nvGrpSpPr>
      <p:grpSpPr>
        <a:xfrm>
          <a:off x="0" y="0"/>
          <a:ext cx="0" cy="0"/>
          <a:chOff x="0" y="0"/>
          <a:chExt cx="0" cy="0"/>
        </a:xfrm>
      </p:grpSpPr>
      <p:sp>
        <p:nvSpPr>
          <p:cNvPr id="358" name="Google Shape;358;p47"/>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359" name="Google Shape;359;p4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7" name="Google Shape;7;p1"/>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hyperlink" Target="http://drive.google.com/file/d/1rt2efYSzaefR92kWz64_1vmh6hjGkszk/view"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hyperlink" Target="https://github.com/HaojingTONG/VLM-Inference.git"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8"/>
          <p:cNvSpPr txBox="1"/>
          <p:nvPr>
            <p:ph idx="1" type="subTitle"/>
          </p:nvPr>
        </p:nvSpPr>
        <p:spPr>
          <a:xfrm>
            <a:off x="826950" y="4258150"/>
            <a:ext cx="74901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sz="1300"/>
              <a:t>Team:Yuqi Wang (yw4338), Haojing Tong (ht2667), Zhuoao Wang (zw4721) </a:t>
            </a:r>
            <a:endParaRPr sz="1300"/>
          </a:p>
        </p:txBody>
      </p:sp>
      <p:sp>
        <p:nvSpPr>
          <p:cNvPr id="365" name="Google Shape;365;p48"/>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1000"/>
              <a:t>Course: NYU HPML</a:t>
            </a:r>
            <a:endParaRPr b="1" sz="1000"/>
          </a:p>
        </p:txBody>
      </p:sp>
      <p:sp>
        <p:nvSpPr>
          <p:cNvPr id="366" name="Google Shape;366;p48"/>
          <p:cNvSpPr txBox="1"/>
          <p:nvPr>
            <p:ph type="title"/>
          </p:nvPr>
        </p:nvSpPr>
        <p:spPr>
          <a:xfrm>
            <a:off x="821000" y="906476"/>
            <a:ext cx="7912800" cy="710700"/>
          </a:xfrm>
          <a:prstGeom prst="rect">
            <a:avLst/>
          </a:prstGeom>
        </p:spPr>
        <p:txBody>
          <a:bodyPr anchorCtr="0" anchor="b"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rPr b="1" lang="en" sz="1800">
                <a:solidFill>
                  <a:schemeClr val="lt1"/>
                </a:solidFill>
                <a:latin typeface="Arial"/>
                <a:ea typeface="Arial"/>
                <a:cs typeface="Arial"/>
                <a:sym typeface="Arial"/>
              </a:rPr>
              <a:t>Final Project: Efficient VLM Inference via Visual Token Compression</a:t>
            </a:r>
            <a:endParaRPr b="1" sz="1800">
              <a:solidFill>
                <a:schemeClr val="lt1"/>
              </a:solidFill>
              <a:latin typeface="Arial"/>
              <a:ea typeface="Arial"/>
              <a:cs typeface="Arial"/>
              <a:sym typeface="Arial"/>
            </a:endParaRPr>
          </a:p>
          <a:p>
            <a:pPr indent="0" lvl="0" marL="0" rtl="0" algn="l">
              <a:spcBef>
                <a:spcPts val="1200"/>
              </a:spcBef>
              <a:spcAft>
                <a:spcPts val="0"/>
              </a:spcAft>
              <a:buNone/>
            </a:pPr>
            <a:r>
              <a:t/>
            </a:r>
            <a:endParaRPr b="1" sz="1800"/>
          </a:p>
        </p:txBody>
      </p:sp>
      <p:pic>
        <p:nvPicPr>
          <p:cNvPr id="367" name="Google Shape;367;p48"/>
          <p:cNvPicPr preferRelativeResize="0"/>
          <p:nvPr/>
        </p:nvPicPr>
        <p:blipFill>
          <a:blip r:embed="rId3">
            <a:alphaModFix/>
          </a:blip>
          <a:stretch>
            <a:fillRect/>
          </a:stretch>
        </p:blipFill>
        <p:spPr>
          <a:xfrm>
            <a:off x="1080650" y="1617050"/>
            <a:ext cx="6804049" cy="226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715450" y="878625"/>
            <a:ext cx="2105700" cy="539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100"/>
              <a:buFont typeface="Arial"/>
              <a:buNone/>
            </a:pPr>
            <a:r>
              <a:rPr b="1" lang="en" sz="2400">
                <a:solidFill>
                  <a:schemeClr val="lt1"/>
                </a:solidFill>
                <a:latin typeface="Arial"/>
                <a:ea typeface="Arial"/>
                <a:cs typeface="Arial"/>
                <a:sym typeface="Arial"/>
              </a:rPr>
              <a:t>Summary </a:t>
            </a:r>
            <a:endParaRPr b="1" sz="2400"/>
          </a:p>
          <a:p>
            <a:pPr indent="0" lvl="0" marL="0" rtl="0" algn="l">
              <a:spcBef>
                <a:spcPts val="0"/>
              </a:spcBef>
              <a:spcAft>
                <a:spcPts val="0"/>
              </a:spcAft>
              <a:buNone/>
            </a:pPr>
            <a:r>
              <a:t/>
            </a:r>
            <a:endParaRPr b="1"/>
          </a:p>
        </p:txBody>
      </p:sp>
      <p:sp>
        <p:nvSpPr>
          <p:cNvPr id="373" name="Google Shape;373;p4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74" name="Google Shape;374;p49"/>
          <p:cNvSpPr txBox="1"/>
          <p:nvPr>
            <p:ph type="title"/>
          </p:nvPr>
        </p:nvSpPr>
        <p:spPr>
          <a:xfrm>
            <a:off x="715450" y="985125"/>
            <a:ext cx="7901100" cy="32784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200">
                <a:solidFill>
                  <a:schemeClr val="lt1"/>
                </a:solidFill>
                <a:latin typeface="Arial"/>
                <a:ea typeface="Arial"/>
                <a:cs typeface="Arial"/>
                <a:sym typeface="Arial"/>
              </a:rPr>
              <a:t>Goal:</a:t>
            </a:r>
            <a:r>
              <a:rPr lang="en" sz="1200">
                <a:solidFill>
                  <a:schemeClr val="lt1"/>
                </a:solidFill>
                <a:latin typeface="Arial"/>
                <a:ea typeface="Arial"/>
                <a:cs typeface="Arial"/>
                <a:sym typeface="Arial"/>
              </a:rPr>
              <a:t> Optimize </a:t>
            </a:r>
            <a:r>
              <a:rPr b="1" lang="en" sz="1200">
                <a:solidFill>
                  <a:schemeClr val="lt1"/>
                </a:solidFill>
                <a:latin typeface="Arial"/>
                <a:ea typeface="Arial"/>
                <a:cs typeface="Arial"/>
                <a:sym typeface="Arial"/>
              </a:rPr>
              <a:t>"Visual Token Explosion"</a:t>
            </a:r>
            <a:r>
              <a:rPr lang="en" sz="1200">
                <a:solidFill>
                  <a:schemeClr val="lt1"/>
                </a:solidFill>
                <a:latin typeface="Arial"/>
                <a:ea typeface="Arial"/>
                <a:cs typeface="Arial"/>
                <a:sym typeface="Arial"/>
              </a:rPr>
              <a:t> bottleneck in high-resolution VLMs （Qwen2.5-VL）</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None/>
            </a:pPr>
            <a:r>
              <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 sz="1200">
                <a:solidFill>
                  <a:schemeClr val="lt1"/>
                </a:solidFill>
                <a:latin typeface="Arial"/>
                <a:ea typeface="Arial"/>
                <a:cs typeface="Arial"/>
                <a:sym typeface="Arial"/>
              </a:rPr>
              <a:t>Solution:</a:t>
            </a:r>
            <a:r>
              <a:rPr lang="en" sz="1200">
                <a:solidFill>
                  <a:schemeClr val="lt1"/>
                </a:solidFill>
                <a:latin typeface="Arial"/>
                <a:ea typeface="Arial"/>
                <a:cs typeface="Arial"/>
                <a:sym typeface="Arial"/>
              </a:rPr>
              <a:t> </a:t>
            </a:r>
            <a:endParaRPr b="1" sz="1200">
              <a:solidFill>
                <a:schemeClr val="lt1"/>
              </a:solidFill>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Char char="●"/>
            </a:pPr>
            <a:r>
              <a:rPr b="1" lang="en" sz="1200">
                <a:solidFill>
                  <a:schemeClr val="lt1"/>
                </a:solidFill>
                <a:latin typeface="Arial"/>
                <a:ea typeface="Arial"/>
                <a:cs typeface="Arial"/>
                <a:sym typeface="Arial"/>
              </a:rPr>
              <a:t>Modular Compression Middleware</a:t>
            </a:r>
            <a:endParaRPr b="1" sz="1200">
              <a:solidFill>
                <a:schemeClr val="lt1"/>
              </a:solidFill>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Char char="●"/>
            </a:pPr>
            <a:r>
              <a:rPr b="1" lang="en" sz="1200">
                <a:solidFill>
                  <a:schemeClr val="lt1"/>
                </a:solidFill>
                <a:latin typeface="Arial"/>
                <a:ea typeface="Arial"/>
                <a:cs typeface="Arial"/>
                <a:sym typeface="Arial"/>
              </a:rPr>
              <a:t>Multi-Tiered Strategies:</a:t>
            </a:r>
            <a:r>
              <a:rPr lang="en" sz="1200">
                <a:solidFill>
                  <a:schemeClr val="lt1"/>
                </a:solidFill>
                <a:latin typeface="Arial"/>
                <a:ea typeface="Arial"/>
                <a:cs typeface="Arial"/>
                <a:sym typeface="Arial"/>
              </a:rPr>
              <a:t> </a:t>
            </a:r>
            <a:r>
              <a:rPr b="1" lang="en" sz="1200">
                <a:solidFill>
                  <a:schemeClr val="lt1"/>
                </a:solidFill>
                <a:latin typeface="Arial"/>
                <a:ea typeface="Arial"/>
                <a:cs typeface="Arial"/>
                <a:sym typeface="Arial"/>
              </a:rPr>
              <a:t>Fixed-Ratio Pruning</a:t>
            </a:r>
            <a:r>
              <a:rPr lang="en" sz="1200">
                <a:solidFill>
                  <a:schemeClr val="lt1"/>
                </a:solidFill>
                <a:latin typeface="Arial"/>
                <a:ea typeface="Arial"/>
                <a:cs typeface="Arial"/>
                <a:sym typeface="Arial"/>
              </a:rPr>
              <a:t>, </a:t>
            </a:r>
            <a:r>
              <a:rPr b="1" lang="en" sz="1200">
                <a:solidFill>
                  <a:schemeClr val="lt1"/>
                </a:solidFill>
                <a:latin typeface="Arial"/>
                <a:ea typeface="Arial"/>
                <a:cs typeface="Arial"/>
                <a:sym typeface="Arial"/>
              </a:rPr>
              <a:t>Importance-Based Filtering</a:t>
            </a:r>
            <a:r>
              <a:rPr lang="en" sz="1200">
                <a:solidFill>
                  <a:schemeClr val="lt1"/>
                </a:solidFill>
                <a:latin typeface="Arial"/>
                <a:ea typeface="Arial"/>
                <a:cs typeface="Arial"/>
                <a:sym typeface="Arial"/>
              </a:rPr>
              <a:t>, and </a:t>
            </a:r>
            <a:r>
              <a:rPr b="1" lang="en" sz="1200">
                <a:solidFill>
                  <a:schemeClr val="lt1"/>
                </a:solidFill>
                <a:latin typeface="Arial"/>
                <a:ea typeface="Arial"/>
                <a:cs typeface="Arial"/>
                <a:sym typeface="Arial"/>
              </a:rPr>
              <a:t>Token Merging (ToMe)</a:t>
            </a:r>
            <a:r>
              <a:rPr lang="en"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0" lvl="0" marL="0" rtl="0" algn="l">
              <a:lnSpc>
                <a:spcPct val="115000"/>
              </a:lnSpc>
              <a:spcBef>
                <a:spcPts val="1200"/>
              </a:spcBef>
              <a:spcAft>
                <a:spcPts val="0"/>
              </a:spcAft>
              <a:buNone/>
            </a:pPr>
            <a:r>
              <a:t/>
            </a:r>
            <a:endParaRPr sz="1200">
              <a:solidFill>
                <a:schemeClr val="lt1"/>
              </a:solidFill>
              <a:latin typeface="Arial"/>
              <a:ea typeface="Arial"/>
              <a:cs typeface="Arial"/>
              <a:sym typeface="Arial"/>
            </a:endParaRPr>
          </a:p>
          <a:p>
            <a:pPr indent="0" lvl="0" marL="0" rtl="0" algn="l">
              <a:lnSpc>
                <a:spcPct val="115000"/>
              </a:lnSpc>
              <a:spcBef>
                <a:spcPts val="0"/>
              </a:spcBef>
              <a:spcAft>
                <a:spcPts val="0"/>
              </a:spcAft>
              <a:buNone/>
            </a:pPr>
            <a:r>
              <a:rPr b="1" lang="en" sz="1200">
                <a:solidFill>
                  <a:schemeClr val="lt1"/>
                </a:solidFill>
                <a:latin typeface="Arial"/>
                <a:ea typeface="Arial"/>
                <a:cs typeface="Arial"/>
                <a:sym typeface="Arial"/>
              </a:rPr>
              <a:t>Value:</a:t>
            </a:r>
            <a:r>
              <a:rPr lang="en" sz="1200">
                <a:solidFill>
                  <a:schemeClr val="lt1"/>
                </a:solidFill>
                <a:latin typeface="Arial"/>
                <a:ea typeface="Arial"/>
                <a:cs typeface="Arial"/>
                <a:sym typeface="Arial"/>
              </a:rPr>
              <a:t> Significant reduction in KV cache size and LLM decoder latency while maintaining high reasoning accuracy across variable resolutions</a:t>
            </a:r>
            <a:endParaRPr sz="1200">
              <a:solidFill>
                <a:schemeClr val="lt1"/>
              </a:solidFill>
              <a:latin typeface="Arial"/>
              <a:ea typeface="Arial"/>
              <a:cs typeface="Arial"/>
              <a:sym typeface="Arial"/>
            </a:endParaRPr>
          </a:p>
        </p:txBody>
      </p:sp>
      <p:pic>
        <p:nvPicPr>
          <p:cNvPr id="375" name="Google Shape;375;p49"/>
          <p:cNvPicPr preferRelativeResize="0"/>
          <p:nvPr/>
        </p:nvPicPr>
        <p:blipFill>
          <a:blip r:embed="rId3">
            <a:alphaModFix/>
          </a:blip>
          <a:stretch>
            <a:fillRect/>
          </a:stretch>
        </p:blipFill>
        <p:spPr>
          <a:xfrm>
            <a:off x="6640725" y="465823"/>
            <a:ext cx="1805924" cy="952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0"/>
          <p:cNvSpPr txBox="1"/>
          <p:nvPr>
            <p:ph type="title"/>
          </p:nvPr>
        </p:nvSpPr>
        <p:spPr>
          <a:xfrm>
            <a:off x="613600" y="488875"/>
            <a:ext cx="4479000" cy="52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2400">
                <a:solidFill>
                  <a:schemeClr val="lt1"/>
                </a:solidFill>
                <a:latin typeface="Arial"/>
                <a:ea typeface="Arial"/>
                <a:cs typeface="Arial"/>
                <a:sym typeface="Arial"/>
              </a:rPr>
              <a:t>Core Technical Challenges</a:t>
            </a:r>
            <a:endParaRPr b="1" sz="2400"/>
          </a:p>
        </p:txBody>
      </p:sp>
      <p:sp>
        <p:nvSpPr>
          <p:cNvPr id="381" name="Google Shape;381;p5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82" name="Google Shape;382;p50"/>
          <p:cNvSpPr/>
          <p:nvPr/>
        </p:nvSpPr>
        <p:spPr>
          <a:xfrm>
            <a:off x="526950" y="1409700"/>
            <a:ext cx="1727100" cy="27177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383" name="Google Shape;383;p50"/>
          <p:cNvSpPr/>
          <p:nvPr/>
        </p:nvSpPr>
        <p:spPr>
          <a:xfrm>
            <a:off x="2393850" y="1346100"/>
            <a:ext cx="1981200" cy="28449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384" name="Google Shape;384;p50"/>
          <p:cNvSpPr/>
          <p:nvPr/>
        </p:nvSpPr>
        <p:spPr>
          <a:xfrm>
            <a:off x="4514850" y="1346100"/>
            <a:ext cx="1981200" cy="28449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385" name="Google Shape;385;p50"/>
          <p:cNvSpPr/>
          <p:nvPr/>
        </p:nvSpPr>
        <p:spPr>
          <a:xfrm>
            <a:off x="6635850" y="1346100"/>
            <a:ext cx="1981200" cy="28449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386" name="Google Shape;386;p50"/>
          <p:cNvSpPr txBox="1"/>
          <p:nvPr/>
        </p:nvSpPr>
        <p:spPr>
          <a:xfrm>
            <a:off x="736600" y="1663700"/>
            <a:ext cx="1295400" cy="223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lt1"/>
              </a:buClr>
              <a:buSzPts val="1100"/>
              <a:buFont typeface="Arial"/>
              <a:buNone/>
            </a:pPr>
            <a:r>
              <a:rPr b="1" lang="en" sz="1200">
                <a:solidFill>
                  <a:schemeClr val="lt1"/>
                </a:solidFill>
                <a:latin typeface="Merriweather"/>
                <a:ea typeface="Merriweather"/>
                <a:cs typeface="Merriweather"/>
                <a:sym typeface="Merriweather"/>
              </a:rPr>
              <a:t>Dynamic Resolution</a:t>
            </a:r>
            <a:endParaRPr b="1" sz="1200">
              <a:solidFill>
                <a:schemeClr val="lt1"/>
              </a:solidFill>
              <a:latin typeface="Merriweather"/>
              <a:ea typeface="Merriweather"/>
              <a:cs typeface="Merriweather"/>
              <a:sym typeface="Merriweather"/>
            </a:endParaRPr>
          </a:p>
          <a:p>
            <a:pPr indent="0" lvl="0" marL="0" rtl="0" algn="ctr">
              <a:lnSpc>
                <a:spcPct val="150000"/>
              </a:lnSpc>
              <a:spcBef>
                <a:spcPts val="1400"/>
              </a:spcBef>
              <a:spcAft>
                <a:spcPts val="0"/>
              </a:spcAft>
              <a:buNone/>
            </a:pPr>
            <a:r>
              <a:t/>
            </a:r>
            <a:endParaRPr sz="1000">
              <a:solidFill>
                <a:schemeClr val="lt1"/>
              </a:solidFill>
              <a:latin typeface="DM Sans"/>
              <a:ea typeface="DM Sans"/>
              <a:cs typeface="DM Sans"/>
              <a:sym typeface="DM Sans"/>
            </a:endParaRPr>
          </a:p>
          <a:p>
            <a:pPr indent="0" lvl="0" marL="0" rtl="0" algn="ctr">
              <a:lnSpc>
                <a:spcPct val="150000"/>
              </a:lnSpc>
              <a:spcBef>
                <a:spcPts val="1400"/>
              </a:spcBef>
              <a:spcAft>
                <a:spcPts val="0"/>
              </a:spcAft>
              <a:buClr>
                <a:schemeClr val="lt1"/>
              </a:buClr>
              <a:buSzPts val="1100"/>
              <a:buFont typeface="Arial"/>
              <a:buNone/>
            </a:pPr>
            <a:r>
              <a:rPr lang="en" sz="1000">
                <a:solidFill>
                  <a:schemeClr val="lt1"/>
                </a:solidFill>
                <a:latin typeface="DM Sans"/>
                <a:ea typeface="DM Sans"/>
                <a:cs typeface="DM Sans"/>
                <a:sym typeface="DM Sans"/>
              </a:rPr>
              <a:t>Qwen2.5-VL's native resolution processing</a:t>
            </a:r>
            <a:endParaRPr sz="1000">
              <a:solidFill>
                <a:schemeClr val="lt1"/>
              </a:solidFill>
              <a:latin typeface="DM Sans"/>
              <a:ea typeface="DM Sans"/>
              <a:cs typeface="DM Sans"/>
              <a:sym typeface="DM Sans"/>
            </a:endParaRPr>
          </a:p>
          <a:p>
            <a:pPr indent="0" lvl="0" marL="0" rtl="0" algn="l">
              <a:spcBef>
                <a:spcPts val="1400"/>
              </a:spcBef>
              <a:spcAft>
                <a:spcPts val="0"/>
              </a:spcAft>
              <a:buNone/>
            </a:pPr>
            <a:r>
              <a:t/>
            </a:r>
            <a:endParaRPr sz="1000">
              <a:solidFill>
                <a:schemeClr val="lt1"/>
              </a:solidFill>
              <a:latin typeface="Arimo"/>
              <a:ea typeface="Arimo"/>
              <a:cs typeface="Arimo"/>
              <a:sym typeface="Arimo"/>
            </a:endParaRPr>
          </a:p>
        </p:txBody>
      </p:sp>
      <p:sp>
        <p:nvSpPr>
          <p:cNvPr id="387" name="Google Shape;387;p50"/>
          <p:cNvSpPr txBox="1"/>
          <p:nvPr/>
        </p:nvSpPr>
        <p:spPr>
          <a:xfrm>
            <a:off x="2501075" y="1565525"/>
            <a:ext cx="1629300" cy="2116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 sz="1200">
                <a:solidFill>
                  <a:schemeClr val="lt1"/>
                </a:solidFill>
              </a:rPr>
              <a:t>Positional Embedding Consistency</a:t>
            </a:r>
            <a:endParaRPr b="1" sz="1200">
              <a:solidFill>
                <a:schemeClr val="lt1"/>
              </a:solidFill>
              <a:latin typeface="Merriweather"/>
              <a:ea typeface="Merriweather"/>
              <a:cs typeface="Merriweather"/>
              <a:sym typeface="Merriweather"/>
            </a:endParaRPr>
          </a:p>
          <a:p>
            <a:pPr indent="0" lvl="0" marL="0" rtl="0" algn="l">
              <a:lnSpc>
                <a:spcPct val="150000"/>
              </a:lnSpc>
              <a:spcBef>
                <a:spcPts val="1400"/>
              </a:spcBef>
              <a:spcAft>
                <a:spcPts val="1400"/>
              </a:spcAft>
              <a:buNone/>
            </a:pPr>
            <a:r>
              <a:rPr lang="en" sz="1000">
                <a:solidFill>
                  <a:schemeClr val="lt1"/>
                </a:solidFill>
                <a:latin typeface="DM Sans"/>
                <a:ea typeface="DM Sans"/>
                <a:cs typeface="DM Sans"/>
                <a:sym typeface="DM Sans"/>
              </a:rPr>
              <a:t>Aligning M-RoPE 3D positional embeddings to maintain spatial consistency post-compression</a:t>
            </a:r>
            <a:endParaRPr sz="1200">
              <a:solidFill>
                <a:schemeClr val="lt1"/>
              </a:solidFill>
              <a:latin typeface="Arimo"/>
              <a:ea typeface="Arimo"/>
              <a:cs typeface="Arimo"/>
              <a:sym typeface="Arimo"/>
            </a:endParaRPr>
          </a:p>
        </p:txBody>
      </p:sp>
      <p:sp>
        <p:nvSpPr>
          <p:cNvPr id="388" name="Google Shape;388;p50"/>
          <p:cNvSpPr txBox="1"/>
          <p:nvPr/>
        </p:nvSpPr>
        <p:spPr>
          <a:xfrm>
            <a:off x="4690800" y="1624150"/>
            <a:ext cx="1629300" cy="175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lt1"/>
              </a:buClr>
              <a:buSzPts val="1100"/>
              <a:buFont typeface="Arial"/>
              <a:buNone/>
            </a:pPr>
            <a:r>
              <a:rPr b="1" lang="en" sz="1200">
                <a:solidFill>
                  <a:schemeClr val="lt1"/>
                </a:solidFill>
                <a:latin typeface="Merriweather"/>
                <a:ea typeface="Merriweather"/>
                <a:cs typeface="Merriweather"/>
                <a:sym typeface="Merriweather"/>
              </a:rPr>
              <a:t>Internal Hooking</a:t>
            </a:r>
            <a:endParaRPr b="1" sz="1200">
              <a:solidFill>
                <a:schemeClr val="lt1"/>
              </a:solidFill>
              <a:latin typeface="Merriweather"/>
              <a:ea typeface="Merriweather"/>
              <a:cs typeface="Merriweather"/>
              <a:sym typeface="Merriweather"/>
            </a:endParaRPr>
          </a:p>
          <a:p>
            <a:pPr indent="0" lvl="0" marL="0" rtl="0" algn="ctr">
              <a:lnSpc>
                <a:spcPct val="150000"/>
              </a:lnSpc>
              <a:spcBef>
                <a:spcPts val="1400"/>
              </a:spcBef>
              <a:spcAft>
                <a:spcPts val="0"/>
              </a:spcAft>
              <a:buNone/>
            </a:pPr>
            <a:r>
              <a:t/>
            </a:r>
            <a:endParaRPr sz="1000">
              <a:solidFill>
                <a:schemeClr val="lt1"/>
              </a:solidFill>
              <a:latin typeface="DM Sans"/>
              <a:ea typeface="DM Sans"/>
              <a:cs typeface="DM Sans"/>
              <a:sym typeface="DM Sans"/>
            </a:endParaRPr>
          </a:p>
          <a:p>
            <a:pPr indent="0" lvl="0" marL="0" rtl="0" algn="ctr">
              <a:lnSpc>
                <a:spcPct val="150000"/>
              </a:lnSpc>
              <a:spcBef>
                <a:spcPts val="1400"/>
              </a:spcBef>
              <a:spcAft>
                <a:spcPts val="0"/>
              </a:spcAft>
              <a:buClr>
                <a:schemeClr val="lt1"/>
              </a:buClr>
              <a:buSzPts val="1100"/>
              <a:buFont typeface="Arial"/>
              <a:buNone/>
            </a:pPr>
            <a:r>
              <a:rPr lang="en" sz="1000">
                <a:solidFill>
                  <a:schemeClr val="lt1"/>
                </a:solidFill>
                <a:latin typeface="DM Sans"/>
                <a:ea typeface="DM Sans"/>
                <a:cs typeface="DM Sans"/>
                <a:sym typeface="DM Sans"/>
              </a:rPr>
              <a:t>Monkey-patching of core methods</a:t>
            </a:r>
            <a:endParaRPr sz="1000">
              <a:solidFill>
                <a:schemeClr val="lt1"/>
              </a:solidFill>
              <a:latin typeface="DM Sans"/>
              <a:ea typeface="DM Sans"/>
              <a:cs typeface="DM Sans"/>
              <a:sym typeface="DM Sans"/>
            </a:endParaRPr>
          </a:p>
          <a:p>
            <a:pPr indent="0" lvl="0" marL="0" rtl="0" algn="ctr">
              <a:spcBef>
                <a:spcPts val="1400"/>
              </a:spcBef>
              <a:spcAft>
                <a:spcPts val="0"/>
              </a:spcAft>
              <a:buNone/>
            </a:pPr>
            <a:r>
              <a:t/>
            </a:r>
            <a:endParaRPr b="1" sz="1200">
              <a:solidFill>
                <a:schemeClr val="lt1"/>
              </a:solidFill>
            </a:endParaRPr>
          </a:p>
        </p:txBody>
      </p:sp>
      <p:sp>
        <p:nvSpPr>
          <p:cNvPr id="389" name="Google Shape;389;p50"/>
          <p:cNvSpPr txBox="1"/>
          <p:nvPr/>
        </p:nvSpPr>
        <p:spPr>
          <a:xfrm>
            <a:off x="6811800" y="1624150"/>
            <a:ext cx="1629300" cy="175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 sz="1200">
                <a:solidFill>
                  <a:schemeClr val="lt1"/>
                </a:solidFill>
              </a:rPr>
              <a:t>Latency Overhead</a:t>
            </a:r>
            <a:endParaRPr b="1" sz="1200">
              <a:solidFill>
                <a:schemeClr val="lt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t/>
            </a:r>
            <a:endParaRPr sz="1100">
              <a:solidFill>
                <a:schemeClr val="lt1"/>
              </a:solidFill>
            </a:endParaRPr>
          </a:p>
          <a:p>
            <a:pPr indent="0" lvl="0" marL="0" rtl="0" algn="l">
              <a:lnSpc>
                <a:spcPct val="115000"/>
              </a:lnSpc>
              <a:spcBef>
                <a:spcPts val="1200"/>
              </a:spcBef>
              <a:spcAft>
                <a:spcPts val="0"/>
              </a:spcAft>
              <a:buNone/>
            </a:pPr>
            <a:r>
              <a:rPr lang="en" sz="1100">
                <a:solidFill>
                  <a:schemeClr val="lt1"/>
                </a:solidFill>
              </a:rPr>
              <a:t>R</a:t>
            </a:r>
            <a:r>
              <a:rPr lang="en" sz="1100">
                <a:solidFill>
                  <a:schemeClr val="lt1"/>
                </a:solidFill>
              </a:rPr>
              <a:t>un once before the LLM decoder pass to minimize overhead</a:t>
            </a:r>
            <a:endParaRPr sz="1100">
              <a:solidFill>
                <a:schemeClr val="lt1"/>
              </a:solidFill>
            </a:endParaRPr>
          </a:p>
          <a:p>
            <a:pPr indent="0" lvl="0" marL="0" rtl="0" algn="l">
              <a:lnSpc>
                <a:spcPct val="150000"/>
              </a:lnSpc>
              <a:spcBef>
                <a:spcPts val="1400"/>
              </a:spcBef>
              <a:spcAft>
                <a:spcPts val="1400"/>
              </a:spcAft>
              <a:buNone/>
            </a:pPr>
            <a:r>
              <a:t/>
            </a:r>
            <a:endParaRPr sz="1000">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1"/>
          <p:cNvSpPr txBox="1"/>
          <p:nvPr>
            <p:ph type="title"/>
          </p:nvPr>
        </p:nvSpPr>
        <p:spPr>
          <a:xfrm>
            <a:off x="613600" y="166025"/>
            <a:ext cx="5966100" cy="52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2200">
                <a:solidFill>
                  <a:schemeClr val="lt1"/>
                </a:solidFill>
                <a:latin typeface="Arial"/>
                <a:ea typeface="Arial"/>
                <a:cs typeface="Arial"/>
                <a:sym typeface="Arial"/>
              </a:rPr>
              <a:t>Approach (1/2): System &amp; Integration </a:t>
            </a:r>
            <a:endParaRPr b="1" sz="2200">
              <a:solidFill>
                <a:schemeClr val="lt1"/>
              </a:solidFill>
              <a:latin typeface="Arial"/>
              <a:ea typeface="Arial"/>
              <a:cs typeface="Arial"/>
              <a:sym typeface="Arial"/>
            </a:endParaRPr>
          </a:p>
        </p:txBody>
      </p:sp>
      <p:sp>
        <p:nvSpPr>
          <p:cNvPr id="395" name="Google Shape;395;p5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96" name="Google Shape;396;p51"/>
          <p:cNvSpPr txBox="1"/>
          <p:nvPr>
            <p:ph type="title"/>
          </p:nvPr>
        </p:nvSpPr>
        <p:spPr>
          <a:xfrm>
            <a:off x="613600" y="873825"/>
            <a:ext cx="8129100" cy="35181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0"/>
              </a:spcAft>
              <a:buNone/>
            </a:pPr>
            <a:r>
              <a:rPr b="1" lang="en" sz="1200">
                <a:solidFill>
                  <a:schemeClr val="lt1"/>
                </a:solidFill>
                <a:latin typeface="Arial"/>
                <a:ea typeface="Arial"/>
                <a:cs typeface="Arial"/>
                <a:sym typeface="Arial"/>
              </a:rPr>
              <a:t>CompressedVLM Wrapper:</a:t>
            </a:r>
            <a:r>
              <a:rPr lang="en"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indent="-304800" lvl="1" marL="914400" rtl="0" algn="l">
              <a:lnSpc>
                <a:spcPct val="100000"/>
              </a:lnSpc>
              <a:spcBef>
                <a:spcPts val="1200"/>
              </a:spcBef>
              <a:spcAft>
                <a:spcPts val="0"/>
              </a:spcAft>
              <a:buClr>
                <a:schemeClr val="lt1"/>
              </a:buClr>
              <a:buSzPts val="1200"/>
              <a:buAutoNum type="arabicPeriod"/>
            </a:pPr>
            <a:r>
              <a:rPr b="1" lang="en" sz="1200">
                <a:solidFill>
                  <a:schemeClr val="lt1"/>
                </a:solidFill>
                <a:latin typeface="Arial"/>
                <a:ea typeface="Arial"/>
                <a:cs typeface="Arial"/>
                <a:sym typeface="Arial"/>
              </a:rPr>
              <a:t>Intercepts:</a:t>
            </a:r>
            <a:r>
              <a:rPr lang="en" sz="1200">
                <a:solidFill>
                  <a:schemeClr val="lt1"/>
                </a:solidFill>
                <a:latin typeface="Arial"/>
                <a:ea typeface="Arial"/>
                <a:cs typeface="Arial"/>
                <a:sym typeface="Arial"/>
              </a:rPr>
              <a:t> Hooks into Vision Tower to extract full embeddings</a:t>
            </a:r>
            <a:endParaRPr sz="1200">
              <a:solidFill>
                <a:schemeClr val="lt1"/>
              </a:solidFill>
              <a:latin typeface="Arial"/>
              <a:ea typeface="Arial"/>
              <a:cs typeface="Arial"/>
              <a:sym typeface="Arial"/>
            </a:endParaRPr>
          </a:p>
          <a:p>
            <a:pPr indent="-304800" lvl="1" marL="914400" rtl="0" algn="l">
              <a:lnSpc>
                <a:spcPct val="100000"/>
              </a:lnSpc>
              <a:spcBef>
                <a:spcPts val="0"/>
              </a:spcBef>
              <a:spcAft>
                <a:spcPts val="0"/>
              </a:spcAft>
              <a:buClr>
                <a:schemeClr val="lt1"/>
              </a:buClr>
              <a:buSzPts val="1200"/>
              <a:buAutoNum type="arabicPeriod"/>
            </a:pPr>
            <a:r>
              <a:rPr b="1" lang="en" sz="1200">
                <a:solidFill>
                  <a:schemeClr val="lt1"/>
                </a:solidFill>
                <a:latin typeface="Arial"/>
                <a:ea typeface="Arial"/>
                <a:cs typeface="Arial"/>
                <a:sym typeface="Arial"/>
              </a:rPr>
              <a:t>Compresses:</a:t>
            </a:r>
            <a:r>
              <a:rPr lang="en" sz="1200">
                <a:solidFill>
                  <a:schemeClr val="lt1"/>
                </a:solidFill>
                <a:latin typeface="Arial"/>
                <a:ea typeface="Arial"/>
                <a:cs typeface="Arial"/>
                <a:sym typeface="Arial"/>
              </a:rPr>
              <a:t> Applies the chosen strategy (Pruning/Merging)</a:t>
            </a:r>
            <a:endParaRPr sz="1200">
              <a:solidFill>
                <a:schemeClr val="lt1"/>
              </a:solidFill>
              <a:latin typeface="Arial"/>
              <a:ea typeface="Arial"/>
              <a:cs typeface="Arial"/>
              <a:sym typeface="Arial"/>
            </a:endParaRPr>
          </a:p>
          <a:p>
            <a:pPr indent="-304800" lvl="1" marL="914400" rtl="0" algn="l">
              <a:lnSpc>
                <a:spcPct val="100000"/>
              </a:lnSpc>
              <a:spcBef>
                <a:spcPts val="0"/>
              </a:spcBef>
              <a:spcAft>
                <a:spcPts val="0"/>
              </a:spcAft>
              <a:buClr>
                <a:schemeClr val="lt1"/>
              </a:buClr>
              <a:buSzPts val="1200"/>
              <a:buAutoNum type="arabicPeriod"/>
            </a:pPr>
            <a:r>
              <a:rPr b="1" lang="en" sz="1200">
                <a:solidFill>
                  <a:schemeClr val="lt1"/>
                </a:solidFill>
                <a:latin typeface="Arial"/>
                <a:ea typeface="Arial"/>
                <a:cs typeface="Arial"/>
                <a:sym typeface="Arial"/>
              </a:rPr>
              <a:t>Rewrites:</a:t>
            </a:r>
            <a:r>
              <a:rPr lang="en" sz="1200">
                <a:solidFill>
                  <a:schemeClr val="lt1"/>
                </a:solidFill>
                <a:latin typeface="Arial"/>
                <a:ea typeface="Arial"/>
                <a:cs typeface="Arial"/>
                <a:sym typeface="Arial"/>
              </a:rPr>
              <a:t> Modifies prompt to reduced image placeholders</a:t>
            </a:r>
            <a:endParaRPr sz="1200">
              <a:solidFill>
                <a:schemeClr val="lt1"/>
              </a:solidFill>
              <a:latin typeface="Arial"/>
              <a:ea typeface="Arial"/>
              <a:cs typeface="Arial"/>
              <a:sym typeface="Arial"/>
            </a:endParaRPr>
          </a:p>
          <a:p>
            <a:pPr indent="-304800" lvl="1" marL="914400" rtl="0" algn="l">
              <a:lnSpc>
                <a:spcPct val="100000"/>
              </a:lnSpc>
              <a:spcBef>
                <a:spcPts val="0"/>
              </a:spcBef>
              <a:spcAft>
                <a:spcPts val="0"/>
              </a:spcAft>
              <a:buClr>
                <a:schemeClr val="lt1"/>
              </a:buClr>
              <a:buSzPts val="1200"/>
              <a:buAutoNum type="arabicPeriod"/>
            </a:pPr>
            <a:r>
              <a:rPr b="1" lang="en" sz="1200">
                <a:solidFill>
                  <a:schemeClr val="lt1"/>
                </a:solidFill>
                <a:latin typeface="Arial"/>
                <a:ea typeface="Arial"/>
                <a:cs typeface="Arial"/>
                <a:sym typeface="Arial"/>
              </a:rPr>
              <a:t>Patches:</a:t>
            </a:r>
            <a:r>
              <a:rPr lang="en" sz="1200">
                <a:solidFill>
                  <a:schemeClr val="lt1"/>
                </a:solidFill>
                <a:latin typeface="Arial"/>
                <a:ea typeface="Arial"/>
                <a:cs typeface="Arial"/>
                <a:sym typeface="Arial"/>
              </a:rPr>
              <a:t> Injects compressed tokens into </a:t>
            </a:r>
            <a:r>
              <a:rPr lang="en" sz="1200">
                <a:solidFill>
                  <a:schemeClr val="lt1"/>
                </a:solidFill>
                <a:latin typeface="Roboto Mono"/>
                <a:ea typeface="Roboto Mono"/>
                <a:cs typeface="Roboto Mono"/>
                <a:sym typeface="Roboto Mono"/>
              </a:rPr>
              <a:t>forward</a:t>
            </a:r>
            <a:r>
              <a:rPr lang="en" sz="1200">
                <a:solidFill>
                  <a:schemeClr val="lt1"/>
                </a:solidFill>
                <a:latin typeface="Arial"/>
                <a:ea typeface="Arial"/>
                <a:cs typeface="Arial"/>
                <a:sym typeface="Arial"/>
              </a:rPr>
              <a:t> pass </a:t>
            </a:r>
            <a:endParaRPr sz="1200">
              <a:solidFill>
                <a:schemeClr val="lt1"/>
              </a:solidFill>
              <a:latin typeface="Arial"/>
              <a:ea typeface="Arial"/>
              <a:cs typeface="Arial"/>
              <a:sym typeface="Arial"/>
            </a:endParaRPr>
          </a:p>
          <a:p>
            <a:pPr indent="0" lvl="0" marL="0" rtl="0" algn="l">
              <a:lnSpc>
                <a:spcPct val="100000"/>
              </a:lnSpc>
              <a:spcBef>
                <a:spcPts val="1200"/>
              </a:spcBef>
              <a:spcAft>
                <a:spcPts val="0"/>
              </a:spcAft>
              <a:buNone/>
            </a:pPr>
            <a:r>
              <a:t/>
            </a:r>
            <a:endParaRPr sz="1200">
              <a:solidFill>
                <a:schemeClr val="lt1"/>
              </a:solidFill>
              <a:latin typeface="Arial"/>
              <a:ea typeface="Arial"/>
              <a:cs typeface="Arial"/>
              <a:sym typeface="Arial"/>
            </a:endParaRPr>
          </a:p>
          <a:p>
            <a:pPr indent="0" lvl="0" marL="0" rtl="0" algn="l">
              <a:lnSpc>
                <a:spcPct val="100000"/>
              </a:lnSpc>
              <a:spcBef>
                <a:spcPts val="1200"/>
              </a:spcBef>
              <a:spcAft>
                <a:spcPts val="0"/>
              </a:spcAft>
              <a:buNone/>
            </a:pPr>
            <a:r>
              <a:t/>
            </a:r>
            <a:endParaRPr b="1" sz="1200">
              <a:solidFill>
                <a:schemeClr val="lt1"/>
              </a:solidFill>
              <a:latin typeface="Arial"/>
              <a:ea typeface="Arial"/>
              <a:cs typeface="Arial"/>
              <a:sym typeface="Arial"/>
            </a:endParaRPr>
          </a:p>
        </p:txBody>
      </p:sp>
      <p:pic>
        <p:nvPicPr>
          <p:cNvPr id="397" name="Google Shape;397;p51"/>
          <p:cNvPicPr preferRelativeResize="0"/>
          <p:nvPr/>
        </p:nvPicPr>
        <p:blipFill>
          <a:blip r:embed="rId3">
            <a:alphaModFix/>
          </a:blip>
          <a:stretch>
            <a:fillRect/>
          </a:stretch>
        </p:blipFill>
        <p:spPr>
          <a:xfrm>
            <a:off x="1640150" y="1997800"/>
            <a:ext cx="5757251" cy="27521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2"/>
          <p:cNvSpPr txBox="1"/>
          <p:nvPr>
            <p:ph type="title"/>
          </p:nvPr>
        </p:nvSpPr>
        <p:spPr>
          <a:xfrm>
            <a:off x="613600" y="336100"/>
            <a:ext cx="5966100" cy="52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2400">
                <a:solidFill>
                  <a:schemeClr val="lt1"/>
                </a:solidFill>
                <a:latin typeface="Arial"/>
                <a:ea typeface="Arial"/>
                <a:cs typeface="Arial"/>
                <a:sym typeface="Arial"/>
              </a:rPr>
              <a:t>Approach (2/2): </a:t>
            </a:r>
            <a:r>
              <a:rPr b="1" lang="en" sz="2400">
                <a:solidFill>
                  <a:schemeClr val="lt1"/>
                </a:solidFill>
                <a:latin typeface="Arial"/>
                <a:ea typeface="Arial"/>
                <a:cs typeface="Arial"/>
                <a:sym typeface="Arial"/>
              </a:rPr>
              <a:t>Compression Strategies</a:t>
            </a:r>
            <a:endParaRPr b="1" sz="2400"/>
          </a:p>
        </p:txBody>
      </p:sp>
      <p:sp>
        <p:nvSpPr>
          <p:cNvPr id="403" name="Google Shape;403;p5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04" name="Google Shape;404;p52"/>
          <p:cNvSpPr txBox="1"/>
          <p:nvPr>
            <p:ph type="title"/>
          </p:nvPr>
        </p:nvSpPr>
        <p:spPr>
          <a:xfrm>
            <a:off x="433250" y="816725"/>
            <a:ext cx="8433300" cy="24522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0"/>
              </a:spcAft>
              <a:buClr>
                <a:schemeClr val="lt1"/>
              </a:buClr>
              <a:buSzPts val="1100"/>
              <a:buFont typeface="Arial"/>
              <a:buNone/>
            </a:pPr>
            <a:r>
              <a:t/>
            </a:r>
            <a:endParaRPr b="1" sz="1100">
              <a:solidFill>
                <a:schemeClr val="lt1"/>
              </a:solidFill>
              <a:latin typeface="Arial"/>
              <a:ea typeface="Arial"/>
              <a:cs typeface="Arial"/>
              <a:sym typeface="Arial"/>
            </a:endParaRPr>
          </a:p>
          <a:p>
            <a:pPr indent="-298450" lvl="0" marL="457200" rtl="0" algn="l">
              <a:lnSpc>
                <a:spcPct val="100000"/>
              </a:lnSpc>
              <a:spcBef>
                <a:spcPts val="1200"/>
              </a:spcBef>
              <a:spcAft>
                <a:spcPts val="0"/>
              </a:spcAft>
              <a:buClr>
                <a:schemeClr val="lt1"/>
              </a:buClr>
              <a:buSzPts val="1100"/>
              <a:buChar char="●"/>
            </a:pPr>
            <a:r>
              <a:rPr b="1" lang="en" sz="1100">
                <a:solidFill>
                  <a:schemeClr val="lt1"/>
                </a:solidFill>
                <a:latin typeface="Arial"/>
                <a:ea typeface="Arial"/>
                <a:cs typeface="Arial"/>
                <a:sym typeface="Arial"/>
              </a:rPr>
              <a:t>Fixed-Ratio Pruning ：</a:t>
            </a:r>
            <a:r>
              <a:rPr lang="en" sz="1100">
                <a:solidFill>
                  <a:schemeClr val="lt1"/>
                </a:solidFill>
                <a:latin typeface="Arial"/>
                <a:ea typeface="Arial"/>
                <a:cs typeface="Arial"/>
                <a:sym typeface="Arial"/>
              </a:rPr>
              <a:t>Uniformly samples the 2D grid to preserve global spatial layout</a:t>
            </a:r>
            <a:endParaRPr sz="1100">
              <a:solidFill>
                <a:schemeClr val="lt1"/>
              </a:solidFill>
              <a:latin typeface="Arial"/>
              <a:ea typeface="Arial"/>
              <a:cs typeface="Arial"/>
              <a:sym typeface="Arial"/>
            </a:endParaRPr>
          </a:p>
          <a:p>
            <a:pPr indent="-298450" lvl="0" marL="4572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Importance-Based Pruning </a:t>
            </a:r>
            <a:endParaRPr b="1" sz="1100">
              <a:solidFill>
                <a:schemeClr val="lt1"/>
              </a:solidFill>
              <a:latin typeface="Arial"/>
              <a:ea typeface="Arial"/>
              <a:cs typeface="Arial"/>
              <a:sym typeface="Arial"/>
            </a:endParaRPr>
          </a:p>
          <a:p>
            <a:pPr indent="-298450" lvl="1" marL="9144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Attention Signal:</a:t>
            </a:r>
            <a:r>
              <a:rPr lang="en" sz="1100">
                <a:solidFill>
                  <a:schemeClr val="lt1"/>
                </a:solidFill>
                <a:latin typeface="Arial"/>
                <a:ea typeface="Arial"/>
                <a:cs typeface="Arial"/>
                <a:sym typeface="Arial"/>
              </a:rPr>
              <a:t> Cross-modal scoring via text-query focus.</a:t>
            </a:r>
            <a:endParaRPr sz="1100">
              <a:solidFill>
                <a:schemeClr val="lt1"/>
              </a:solidFill>
              <a:latin typeface="Arial"/>
              <a:ea typeface="Arial"/>
              <a:cs typeface="Arial"/>
              <a:sym typeface="Arial"/>
            </a:endParaRPr>
          </a:p>
          <a:p>
            <a:pPr indent="-298450" lvl="1" marL="9144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Similarity Saliency:</a:t>
            </a:r>
            <a:r>
              <a:rPr lang="en" sz="1100">
                <a:solidFill>
                  <a:schemeClr val="lt1"/>
                </a:solidFill>
                <a:latin typeface="Arial"/>
                <a:ea typeface="Arial"/>
                <a:cs typeface="Arial"/>
                <a:sym typeface="Arial"/>
              </a:rPr>
              <a:t> Cosine similarity to filter redundant background tokens.</a:t>
            </a:r>
            <a:endParaRPr sz="1100">
              <a:solidFill>
                <a:schemeClr val="lt1"/>
              </a:solidFill>
              <a:latin typeface="Arial"/>
              <a:ea typeface="Arial"/>
              <a:cs typeface="Arial"/>
              <a:sym typeface="Arial"/>
            </a:endParaRPr>
          </a:p>
          <a:p>
            <a:pPr indent="-298450" lvl="1" marL="9144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Feature Magnitude:</a:t>
            </a:r>
            <a:r>
              <a:rPr lang="en" sz="1100">
                <a:solidFill>
                  <a:schemeClr val="lt1"/>
                </a:solidFill>
                <a:latin typeface="Arial"/>
                <a:ea typeface="Arial"/>
                <a:cs typeface="Arial"/>
                <a:sym typeface="Arial"/>
              </a:rPr>
              <a:t> L2-norm as a proxy </a:t>
            </a:r>
            <a:endParaRPr sz="1100">
              <a:solidFill>
                <a:schemeClr val="lt1"/>
              </a:solidFill>
              <a:latin typeface="Arial"/>
              <a:ea typeface="Arial"/>
              <a:cs typeface="Arial"/>
              <a:sym typeface="Arial"/>
            </a:endParaRPr>
          </a:p>
          <a:p>
            <a:pPr indent="-298450" lvl="0" marL="4572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Token Merging</a:t>
            </a:r>
            <a:endParaRPr b="1" sz="1100">
              <a:solidFill>
                <a:schemeClr val="lt1"/>
              </a:solidFill>
              <a:latin typeface="Arial"/>
              <a:ea typeface="Arial"/>
              <a:cs typeface="Arial"/>
              <a:sym typeface="Arial"/>
            </a:endParaRPr>
          </a:p>
          <a:p>
            <a:pPr indent="-298450" lvl="1" marL="9144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Bipartite Matching:</a:t>
            </a:r>
            <a:r>
              <a:rPr lang="en" sz="1100">
                <a:solidFill>
                  <a:schemeClr val="lt1"/>
                </a:solidFill>
                <a:latin typeface="Arial"/>
                <a:ea typeface="Arial"/>
                <a:cs typeface="Arial"/>
                <a:sym typeface="Arial"/>
              </a:rPr>
              <a:t> Partitioned similarity grouping </a:t>
            </a:r>
            <a:endParaRPr sz="1100">
              <a:solidFill>
                <a:schemeClr val="lt1"/>
              </a:solidFill>
              <a:latin typeface="Arial"/>
              <a:ea typeface="Arial"/>
              <a:cs typeface="Arial"/>
              <a:sym typeface="Arial"/>
            </a:endParaRPr>
          </a:p>
          <a:p>
            <a:pPr indent="-298450" lvl="1" marL="914400" rtl="0" algn="l">
              <a:lnSpc>
                <a:spcPct val="100000"/>
              </a:lnSpc>
              <a:spcBef>
                <a:spcPts val="0"/>
              </a:spcBef>
              <a:spcAft>
                <a:spcPts val="0"/>
              </a:spcAft>
              <a:buClr>
                <a:schemeClr val="lt1"/>
              </a:buClr>
              <a:buSzPts val="1100"/>
              <a:buChar char="○"/>
            </a:pPr>
            <a:r>
              <a:rPr b="1" lang="en" sz="1100">
                <a:solidFill>
                  <a:schemeClr val="lt1"/>
                </a:solidFill>
                <a:latin typeface="Arial"/>
                <a:ea typeface="Arial"/>
                <a:cs typeface="Arial"/>
                <a:sym typeface="Arial"/>
              </a:rPr>
              <a:t>Weighted Fusion:</a:t>
            </a:r>
            <a:r>
              <a:rPr lang="en" sz="1100">
                <a:solidFill>
                  <a:schemeClr val="lt1"/>
                </a:solidFill>
                <a:latin typeface="Arial"/>
                <a:ea typeface="Arial"/>
                <a:cs typeface="Arial"/>
                <a:sym typeface="Arial"/>
              </a:rPr>
              <a:t> Proportional averaging (running mean) to retain statistical features of merged patches.</a:t>
            </a:r>
            <a:endParaRPr sz="1100">
              <a:solidFill>
                <a:schemeClr val="lt1"/>
              </a:solidFill>
              <a:latin typeface="Arial"/>
              <a:ea typeface="Arial"/>
              <a:cs typeface="Arial"/>
              <a:sym typeface="Arial"/>
            </a:endParaRPr>
          </a:p>
          <a:p>
            <a:pPr indent="0" lvl="0" marL="0" rtl="0" algn="l">
              <a:lnSpc>
                <a:spcPct val="100000"/>
              </a:lnSpc>
              <a:spcBef>
                <a:spcPts val="1200"/>
              </a:spcBef>
              <a:spcAft>
                <a:spcPts val="0"/>
              </a:spcAft>
              <a:buNone/>
            </a:pPr>
            <a:r>
              <a:t/>
            </a:r>
            <a:endParaRPr b="1" sz="1100">
              <a:solidFill>
                <a:schemeClr val="lt1"/>
              </a:solidFill>
              <a:latin typeface="Arial"/>
              <a:ea typeface="Arial"/>
              <a:cs typeface="Arial"/>
              <a:sym typeface="Arial"/>
            </a:endParaRPr>
          </a:p>
        </p:txBody>
      </p:sp>
      <p:pic>
        <p:nvPicPr>
          <p:cNvPr id="405" name="Google Shape;405;p52"/>
          <p:cNvPicPr preferRelativeResize="0"/>
          <p:nvPr/>
        </p:nvPicPr>
        <p:blipFill>
          <a:blip r:embed="rId3">
            <a:alphaModFix/>
          </a:blip>
          <a:stretch>
            <a:fillRect/>
          </a:stretch>
        </p:blipFill>
        <p:spPr>
          <a:xfrm>
            <a:off x="1960374" y="2652525"/>
            <a:ext cx="4869001" cy="2012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3"/>
          <p:cNvSpPr txBox="1"/>
          <p:nvPr>
            <p:ph type="title"/>
          </p:nvPr>
        </p:nvSpPr>
        <p:spPr>
          <a:xfrm>
            <a:off x="625375" y="763875"/>
            <a:ext cx="6667200" cy="12120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200"/>
              <a:t>Demo</a:t>
            </a:r>
            <a:r>
              <a:rPr lang="en" sz="1200"/>
              <a:t> </a:t>
            </a:r>
            <a:endParaRPr sz="1200"/>
          </a:p>
          <a:p>
            <a:pPr indent="0" lvl="0" marL="0" rtl="0" algn="l">
              <a:spcBef>
                <a:spcPts val="0"/>
              </a:spcBef>
              <a:spcAft>
                <a:spcPts val="0"/>
              </a:spcAft>
              <a:buClr>
                <a:schemeClr val="lt1"/>
              </a:buClr>
              <a:buSzPts val="1100"/>
              <a:buFont typeface="Arial"/>
              <a:buNone/>
            </a:pPr>
            <a:r>
              <a:t/>
            </a:r>
            <a:endParaRPr sz="1200"/>
          </a:p>
          <a:p>
            <a:pPr indent="0" lvl="0" marL="0" rtl="0" algn="l">
              <a:spcBef>
                <a:spcPts val="0"/>
              </a:spcBef>
              <a:spcAft>
                <a:spcPts val="0"/>
              </a:spcAft>
              <a:buClr>
                <a:schemeClr val="lt1"/>
              </a:buClr>
              <a:buSzPts val="1100"/>
              <a:buFont typeface="Arial"/>
              <a:buNone/>
            </a:pPr>
            <a:r>
              <a:t/>
            </a:r>
            <a:endParaRPr sz="1200"/>
          </a:p>
          <a:p>
            <a:pPr indent="0" lvl="0" marL="0" rtl="0" algn="l">
              <a:spcBef>
                <a:spcPts val="0"/>
              </a:spcBef>
              <a:spcAft>
                <a:spcPts val="0"/>
              </a:spcAft>
              <a:buClr>
                <a:schemeClr val="lt1"/>
              </a:buClr>
              <a:buSzPts val="1100"/>
              <a:buFont typeface="Arial"/>
              <a:buNone/>
            </a:pPr>
            <a:r>
              <a:t/>
            </a:r>
            <a:endParaRPr sz="1200"/>
          </a:p>
          <a:p>
            <a:pPr indent="0" lvl="0" marL="0" rtl="0" algn="l">
              <a:spcBef>
                <a:spcPts val="0"/>
              </a:spcBef>
              <a:spcAft>
                <a:spcPts val="0"/>
              </a:spcAft>
              <a:buNone/>
            </a:pPr>
            <a:r>
              <a:t/>
            </a:r>
            <a:endParaRPr sz="1200"/>
          </a:p>
        </p:txBody>
      </p:sp>
      <p:pic>
        <p:nvPicPr>
          <p:cNvPr id="411" name="Google Shape;411;p53" title="demo_video.mov">
            <a:hlinkClick r:id="rId3"/>
          </p:cNvPr>
          <p:cNvPicPr preferRelativeResize="0"/>
          <p:nvPr/>
        </p:nvPicPr>
        <p:blipFill>
          <a:blip r:embed="rId4">
            <a:alphaModFix/>
          </a:blip>
          <a:stretch>
            <a:fillRect/>
          </a:stretch>
        </p:blipFill>
        <p:spPr>
          <a:xfrm>
            <a:off x="1665575" y="317175"/>
            <a:ext cx="5517725" cy="4138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54"/>
          <p:cNvPicPr preferRelativeResize="0"/>
          <p:nvPr/>
        </p:nvPicPr>
        <p:blipFill rotWithShape="1">
          <a:blip r:embed="rId3">
            <a:alphaModFix amt="10000"/>
          </a:blip>
          <a:srcRect b="720" l="1068" r="20" t="592"/>
          <a:stretch/>
        </p:blipFill>
        <p:spPr>
          <a:xfrm>
            <a:off x="277425" y="277650"/>
            <a:ext cx="8588100" cy="4582500"/>
          </a:xfrm>
          <a:prstGeom prst="roundRect">
            <a:avLst>
              <a:gd fmla="val 13460" name="adj"/>
            </a:avLst>
          </a:prstGeom>
          <a:noFill/>
          <a:ln>
            <a:noFill/>
          </a:ln>
        </p:spPr>
      </p:pic>
      <p:sp>
        <p:nvSpPr>
          <p:cNvPr id="417" name="Google Shape;417;p5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418" name="Google Shape;418;p54"/>
          <p:cNvGrpSpPr/>
          <p:nvPr/>
        </p:nvGrpSpPr>
        <p:grpSpPr>
          <a:xfrm>
            <a:off x="476250" y="1190625"/>
            <a:ext cx="4048200" cy="1285800"/>
            <a:chOff x="476250" y="1190625"/>
            <a:chExt cx="4048200" cy="1285800"/>
          </a:xfrm>
        </p:grpSpPr>
        <p:sp>
          <p:nvSpPr>
            <p:cNvPr id="419" name="Google Shape;419;p54"/>
            <p:cNvSpPr/>
            <p:nvPr/>
          </p:nvSpPr>
          <p:spPr>
            <a:xfrm>
              <a:off x="476250" y="1190625"/>
              <a:ext cx="4048200" cy="1285800"/>
            </a:xfrm>
            <a:prstGeom prst="roundRect">
              <a:avLst>
                <a:gd fmla="val 8888"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54"/>
            <p:cNvSpPr txBox="1"/>
            <p:nvPr/>
          </p:nvSpPr>
          <p:spPr>
            <a:xfrm>
              <a:off x="619125" y="1285875"/>
              <a:ext cx="38100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VQA Evaluation Pipeline</a:t>
              </a:r>
              <a:endParaRPr b="1" sz="1100">
                <a:solidFill>
                  <a:srgbClr val="000000"/>
                </a:solidFill>
                <a:latin typeface="Arial"/>
                <a:ea typeface="Arial"/>
                <a:cs typeface="Arial"/>
                <a:sym typeface="Arial"/>
              </a:endParaRPr>
            </a:p>
            <a:p>
              <a:pPr indent="-298450" lvl="0" marL="457200" rtl="0" algn="l">
                <a:spcBef>
                  <a:spcPts val="600"/>
                </a:spcBef>
                <a:spcAft>
                  <a:spcPts val="0"/>
                </a:spcAft>
                <a:buClr>
                  <a:srgbClr val="333333"/>
                </a:buClr>
                <a:buSzPts val="1100"/>
                <a:buFont typeface="Arial"/>
                <a:buChar char="●"/>
              </a:pPr>
              <a:r>
                <a:rPr lang="en" sz="1100">
                  <a:solidFill>
                    <a:srgbClr val="333333"/>
                  </a:solidFill>
                  <a:latin typeface="Arial"/>
                  <a:ea typeface="Arial"/>
                  <a:cs typeface="Arial"/>
                  <a:sym typeface="Arial"/>
                </a:rPr>
                <a:t>Validated dataset schema before scoring</a:t>
              </a:r>
              <a:endParaRPr sz="1100">
                <a:solidFill>
                  <a:srgbClr val="333333"/>
                </a:solidFill>
                <a:latin typeface="Arial"/>
                <a:ea typeface="Arial"/>
                <a:cs typeface="Arial"/>
                <a:sym typeface="Arial"/>
              </a:endParaRPr>
            </a:p>
            <a:p>
              <a:pPr indent="-298450" lvl="0" marL="457200" rtl="0" algn="l">
                <a:spcBef>
                  <a:spcPts val="400"/>
                </a:spcBef>
                <a:spcAft>
                  <a:spcPts val="0"/>
                </a:spcAft>
                <a:buClr>
                  <a:srgbClr val="333333"/>
                </a:buClr>
                <a:buSzPts val="1100"/>
                <a:buFont typeface="Arial"/>
                <a:buChar char="●"/>
              </a:pPr>
              <a:r>
                <a:rPr lang="en" sz="1100">
                  <a:solidFill>
                    <a:srgbClr val="333333"/>
                  </a:solidFill>
                  <a:latin typeface="Arial"/>
                  <a:ea typeface="Arial"/>
                  <a:cs typeface="Arial"/>
                  <a:sym typeface="Arial"/>
                </a:rPr>
                <a:t>Used lmms-lab/VQAv2 (10 human answers)</a:t>
              </a:r>
              <a:endParaRPr sz="1100">
                <a:solidFill>
                  <a:srgbClr val="333333"/>
                </a:solidFill>
                <a:latin typeface="Arial"/>
                <a:ea typeface="Arial"/>
                <a:cs typeface="Arial"/>
                <a:sym typeface="Arial"/>
              </a:endParaRPr>
            </a:p>
            <a:p>
              <a:pPr indent="-298450" lvl="0" marL="457200" rtl="0" algn="l">
                <a:spcBef>
                  <a:spcPts val="400"/>
                </a:spcBef>
                <a:spcAft>
                  <a:spcPts val="0"/>
                </a:spcAft>
                <a:buClr>
                  <a:srgbClr val="333333"/>
                </a:buClr>
                <a:buSzPts val="1100"/>
                <a:buFont typeface="Arial"/>
                <a:buChar char="●"/>
              </a:pPr>
              <a:r>
                <a:rPr lang="en" sz="1100">
                  <a:solidFill>
                    <a:srgbClr val="333333"/>
                  </a:solidFill>
                  <a:latin typeface="Arial"/>
                  <a:ea typeface="Arial"/>
                  <a:cs typeface="Arial"/>
                  <a:sym typeface="Arial"/>
                </a:rPr>
                <a:t>Official VQA accuracy reported per schema</a:t>
              </a:r>
              <a:endParaRPr sz="1100">
                <a:solidFill>
                  <a:srgbClr val="333333"/>
                </a:solidFill>
                <a:latin typeface="Arial"/>
                <a:ea typeface="Arial"/>
                <a:cs typeface="Arial"/>
                <a:sym typeface="Arial"/>
              </a:endParaRPr>
            </a:p>
          </p:txBody>
        </p:sp>
      </p:grpSp>
      <p:grpSp>
        <p:nvGrpSpPr>
          <p:cNvPr id="421" name="Google Shape;421;p54"/>
          <p:cNvGrpSpPr/>
          <p:nvPr/>
        </p:nvGrpSpPr>
        <p:grpSpPr>
          <a:xfrm>
            <a:off x="476250" y="2619375"/>
            <a:ext cx="4048200" cy="1285800"/>
            <a:chOff x="476250" y="2619375"/>
            <a:chExt cx="4048200" cy="1285800"/>
          </a:xfrm>
        </p:grpSpPr>
        <p:sp>
          <p:nvSpPr>
            <p:cNvPr id="422" name="Google Shape;422;p54"/>
            <p:cNvSpPr/>
            <p:nvPr/>
          </p:nvSpPr>
          <p:spPr>
            <a:xfrm>
              <a:off x="476250" y="2619375"/>
              <a:ext cx="4048200" cy="1285800"/>
            </a:xfrm>
            <a:prstGeom prst="roundRect">
              <a:avLst>
                <a:gd fmla="val 8888"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54"/>
            <p:cNvSpPr txBox="1"/>
            <p:nvPr/>
          </p:nvSpPr>
          <p:spPr>
            <a:xfrm>
              <a:off x="619125" y="2714625"/>
              <a:ext cx="38100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Quality Under Compression</a:t>
              </a:r>
              <a:endParaRPr b="1" sz="1100">
                <a:solidFill>
                  <a:srgbClr val="000000"/>
                </a:solidFill>
                <a:latin typeface="Arial"/>
                <a:ea typeface="Arial"/>
                <a:cs typeface="Arial"/>
                <a:sym typeface="Arial"/>
              </a:endParaRPr>
            </a:p>
            <a:p>
              <a:pPr indent="-298450" lvl="0" marL="457200" rtl="0" algn="l">
                <a:spcBef>
                  <a:spcPts val="600"/>
                </a:spcBef>
                <a:spcAft>
                  <a:spcPts val="0"/>
                </a:spcAft>
                <a:buClr>
                  <a:srgbClr val="333333"/>
                </a:buClr>
                <a:buSzPts val="1100"/>
                <a:buFont typeface="Arial"/>
                <a:buChar char="●"/>
              </a:pPr>
              <a:r>
                <a:rPr lang="en" sz="1100">
                  <a:solidFill>
                    <a:srgbClr val="333333"/>
                  </a:solidFill>
                  <a:latin typeface="Arial"/>
                  <a:ea typeface="Arial"/>
                  <a:cs typeface="Arial"/>
                  <a:sym typeface="Arial"/>
                </a:rPr>
                <a:t>Baseline official VQA accuracy: </a:t>
              </a:r>
              <a:r>
                <a:rPr b="1" lang="en" sz="1100">
                  <a:solidFill>
                    <a:srgbClr val="333333"/>
                  </a:solidFill>
                  <a:latin typeface="Arial"/>
                  <a:ea typeface="Arial"/>
                  <a:cs typeface="Arial"/>
                  <a:sym typeface="Arial"/>
                </a:rPr>
                <a:t>0.794</a:t>
              </a:r>
              <a:endParaRPr sz="1100">
                <a:solidFill>
                  <a:srgbClr val="333333"/>
                </a:solidFill>
                <a:latin typeface="Arial"/>
                <a:ea typeface="Arial"/>
                <a:cs typeface="Arial"/>
                <a:sym typeface="Arial"/>
              </a:endParaRPr>
            </a:p>
            <a:p>
              <a:pPr indent="-298450" lvl="0" marL="457200" rtl="0" algn="l">
                <a:spcBef>
                  <a:spcPts val="400"/>
                </a:spcBef>
                <a:spcAft>
                  <a:spcPts val="0"/>
                </a:spcAft>
                <a:buClr>
                  <a:srgbClr val="333333"/>
                </a:buClr>
                <a:buSzPts val="1100"/>
                <a:buFont typeface="Arial"/>
                <a:buChar char="●"/>
              </a:pPr>
              <a:r>
                <a:rPr lang="en" sz="1100">
                  <a:solidFill>
                    <a:srgbClr val="333333"/>
                  </a:solidFill>
                  <a:latin typeface="Arial"/>
                  <a:ea typeface="Arial"/>
                  <a:cs typeface="Arial"/>
                  <a:sym typeface="Arial"/>
                </a:rPr>
                <a:t>Best: Fixed-ratio (50% retention): </a:t>
              </a:r>
              <a:r>
                <a:rPr b="1" lang="en" sz="1100">
                  <a:solidFill>
                    <a:srgbClr val="2E7D32"/>
                  </a:solidFill>
                  <a:latin typeface="Arial"/>
                  <a:ea typeface="Arial"/>
                  <a:cs typeface="Arial"/>
                  <a:sym typeface="Arial"/>
                </a:rPr>
                <a:t>0.836</a:t>
              </a:r>
              <a:endParaRPr sz="1100">
                <a:solidFill>
                  <a:srgbClr val="333333"/>
                </a:solidFill>
                <a:latin typeface="Arial"/>
                <a:ea typeface="Arial"/>
                <a:cs typeface="Arial"/>
                <a:sym typeface="Arial"/>
              </a:endParaRPr>
            </a:p>
            <a:p>
              <a:pPr indent="-298450" lvl="0" marL="457200" rtl="0" algn="l">
                <a:spcBef>
                  <a:spcPts val="400"/>
                </a:spcBef>
                <a:spcAft>
                  <a:spcPts val="0"/>
                </a:spcAft>
                <a:buClr>
                  <a:srgbClr val="333333"/>
                </a:buClr>
                <a:buSzPts val="1100"/>
                <a:buFont typeface="Arial"/>
                <a:buChar char="●"/>
              </a:pPr>
              <a:r>
                <a:rPr lang="en" sz="1100">
                  <a:solidFill>
                    <a:srgbClr val="333333"/>
                  </a:solidFill>
                  <a:latin typeface="Arial"/>
                  <a:ea typeface="Arial"/>
                  <a:cs typeface="Arial"/>
                  <a:sym typeface="Arial"/>
                </a:rPr>
                <a:t>Bootstrap intervals overlap: results suggestive</a:t>
              </a:r>
              <a:endParaRPr sz="1100">
                <a:solidFill>
                  <a:srgbClr val="333333"/>
                </a:solidFill>
                <a:latin typeface="Arial"/>
                <a:ea typeface="Arial"/>
                <a:cs typeface="Arial"/>
                <a:sym typeface="Arial"/>
              </a:endParaRPr>
            </a:p>
          </p:txBody>
        </p:sp>
      </p:grpSp>
      <p:grpSp>
        <p:nvGrpSpPr>
          <p:cNvPr id="424" name="Google Shape;424;p54"/>
          <p:cNvGrpSpPr/>
          <p:nvPr/>
        </p:nvGrpSpPr>
        <p:grpSpPr>
          <a:xfrm>
            <a:off x="4667250" y="1190625"/>
            <a:ext cx="4048200" cy="1571700"/>
            <a:chOff x="4667250" y="1190625"/>
            <a:chExt cx="4048200" cy="1571700"/>
          </a:xfrm>
        </p:grpSpPr>
        <p:sp>
          <p:nvSpPr>
            <p:cNvPr id="425" name="Google Shape;425;p54"/>
            <p:cNvSpPr/>
            <p:nvPr/>
          </p:nvSpPr>
          <p:spPr>
            <a:xfrm>
              <a:off x="4667250" y="1190625"/>
              <a:ext cx="4048200" cy="1571700"/>
            </a:xfrm>
            <a:prstGeom prst="roundRect">
              <a:avLst>
                <a:gd fmla="val 7272"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54"/>
            <p:cNvSpPr txBox="1"/>
            <p:nvPr/>
          </p:nvSpPr>
          <p:spPr>
            <a:xfrm>
              <a:off x="4810125" y="1285875"/>
              <a:ext cx="38100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Efficiency Results</a:t>
              </a:r>
              <a:endParaRPr b="1" sz="1100">
                <a:solidFill>
                  <a:srgbClr val="000000"/>
                </a:solidFill>
                <a:latin typeface="Arial"/>
                <a:ea typeface="Arial"/>
                <a:cs typeface="Arial"/>
                <a:sym typeface="Arial"/>
              </a:endParaRPr>
            </a:p>
            <a:p>
              <a:pPr indent="-298450" lvl="0" marL="457200" rtl="0" algn="l">
                <a:spcBef>
                  <a:spcPts val="600"/>
                </a:spcBef>
                <a:spcAft>
                  <a:spcPts val="0"/>
                </a:spcAft>
                <a:buClr>
                  <a:srgbClr val="333333"/>
                </a:buClr>
                <a:buSzPts val="1100"/>
                <a:buFont typeface="Arial"/>
                <a:buChar char="●"/>
              </a:pPr>
              <a:r>
                <a:rPr lang="en" sz="1100">
                  <a:solidFill>
                    <a:srgbClr val="333333"/>
                  </a:solidFill>
                  <a:latin typeface="Arial"/>
                  <a:ea typeface="Arial"/>
                  <a:cs typeface="Arial"/>
                  <a:sym typeface="Arial"/>
                </a:rPr>
                <a:t>Token scaling: 256 → 1024 → 2304</a:t>
              </a:r>
              <a:endParaRPr sz="1100">
                <a:solidFill>
                  <a:srgbClr val="333333"/>
                </a:solidFill>
                <a:latin typeface="Arial"/>
                <a:ea typeface="Arial"/>
                <a:cs typeface="Arial"/>
                <a:sym typeface="Arial"/>
              </a:endParaRPr>
            </a:p>
            <a:p>
              <a:pPr indent="-298450" lvl="0" marL="457200" rtl="0" algn="l">
                <a:spcBef>
                  <a:spcPts val="400"/>
                </a:spcBef>
                <a:spcAft>
                  <a:spcPts val="0"/>
                </a:spcAft>
                <a:buClr>
                  <a:srgbClr val="333333"/>
                </a:buClr>
                <a:buSzPts val="1100"/>
                <a:buFont typeface="Arial"/>
                <a:buChar char="●"/>
              </a:pPr>
              <a:r>
                <a:rPr lang="en" sz="1100">
                  <a:solidFill>
                    <a:srgbClr val="333333"/>
                  </a:solidFill>
                  <a:latin typeface="Arial"/>
                  <a:ea typeface="Arial"/>
                  <a:cs typeface="Arial"/>
                  <a:sym typeface="Arial"/>
                </a:rPr>
                <a:t>No improvement in prefill latency</a:t>
              </a:r>
              <a:endParaRPr sz="1100">
                <a:solidFill>
                  <a:srgbClr val="333333"/>
                </a:solidFill>
                <a:latin typeface="Arial"/>
                <a:ea typeface="Arial"/>
                <a:cs typeface="Arial"/>
                <a:sym typeface="Arial"/>
              </a:endParaRPr>
            </a:p>
            <a:p>
              <a:pPr indent="-298450" lvl="0" marL="457200" rtl="0" algn="l">
                <a:spcBef>
                  <a:spcPts val="400"/>
                </a:spcBef>
                <a:spcAft>
                  <a:spcPts val="0"/>
                </a:spcAft>
                <a:buClr>
                  <a:srgbClr val="333333"/>
                </a:buClr>
                <a:buSzPts val="1100"/>
                <a:buFont typeface="Arial"/>
                <a:buChar char="●"/>
              </a:pPr>
              <a:r>
                <a:rPr lang="en" sz="1100">
                  <a:solidFill>
                    <a:srgbClr val="333333"/>
                  </a:solidFill>
                  <a:latin typeface="Arial"/>
                  <a:ea typeface="Arial"/>
                  <a:cs typeface="Arial"/>
                  <a:sym typeface="Arial"/>
                </a:rPr>
                <a:t>Medium-res reached only 0.94× baseline speed</a:t>
              </a:r>
              <a:endParaRPr sz="1100">
                <a:solidFill>
                  <a:srgbClr val="333333"/>
                </a:solidFill>
                <a:latin typeface="Arial"/>
                <a:ea typeface="Arial"/>
                <a:cs typeface="Arial"/>
                <a:sym typeface="Arial"/>
              </a:endParaRPr>
            </a:p>
          </p:txBody>
        </p:sp>
      </p:grpSp>
      <p:grpSp>
        <p:nvGrpSpPr>
          <p:cNvPr id="427" name="Google Shape;427;p54"/>
          <p:cNvGrpSpPr/>
          <p:nvPr/>
        </p:nvGrpSpPr>
        <p:grpSpPr>
          <a:xfrm>
            <a:off x="4667250" y="2905125"/>
            <a:ext cx="4048200" cy="1000200"/>
            <a:chOff x="4667250" y="2905125"/>
            <a:chExt cx="4048200" cy="1000200"/>
          </a:xfrm>
        </p:grpSpPr>
        <p:sp>
          <p:nvSpPr>
            <p:cNvPr id="428" name="Google Shape;428;p54"/>
            <p:cNvSpPr/>
            <p:nvPr/>
          </p:nvSpPr>
          <p:spPr>
            <a:xfrm>
              <a:off x="4667250" y="2905125"/>
              <a:ext cx="4048200" cy="1000200"/>
            </a:xfrm>
            <a:prstGeom prst="roundRect">
              <a:avLst>
                <a:gd fmla="val 11428" name="adj"/>
              </a:avLst>
            </a:prstGeom>
            <a:solidFill>
              <a:srgbClr val="E8F5E9"/>
            </a:solidFill>
            <a:ln cap="flat" cmpd="sng" w="14300">
              <a:solidFill>
                <a:srgbClr val="2E7D3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54"/>
            <p:cNvSpPr txBox="1"/>
            <p:nvPr/>
          </p:nvSpPr>
          <p:spPr>
            <a:xfrm>
              <a:off x="4810125" y="3000375"/>
              <a:ext cx="38100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B5E20"/>
                  </a:solidFill>
                  <a:latin typeface="Arial"/>
                  <a:ea typeface="Arial"/>
                  <a:cs typeface="Arial"/>
                  <a:sym typeface="Arial"/>
                </a:rPr>
                <a:t>Main Conclusion</a:t>
              </a:r>
              <a:endParaRPr b="1" sz="1100">
                <a:solidFill>
                  <a:srgbClr val="1B5E20"/>
                </a:solidFill>
                <a:latin typeface="Arial"/>
                <a:ea typeface="Arial"/>
                <a:cs typeface="Arial"/>
                <a:sym typeface="Arial"/>
              </a:endParaRPr>
            </a:p>
            <a:p>
              <a:pPr indent="0" lvl="0" marL="0" rtl="0" algn="l">
                <a:spcBef>
                  <a:spcPts val="400"/>
                </a:spcBef>
                <a:spcAft>
                  <a:spcPts val="0"/>
                </a:spcAft>
                <a:buNone/>
              </a:pPr>
              <a:r>
                <a:rPr b="0" lang="en" sz="1100">
                  <a:solidFill>
                    <a:srgbClr val="1B5E20"/>
                  </a:solidFill>
                  <a:latin typeface="Arial"/>
                  <a:ea typeface="Arial"/>
                  <a:cs typeface="Arial"/>
                  <a:sym typeface="Arial"/>
                </a:rPr>
                <a:t>Moderate compression preserves quality, but implementation needs lower overhead for real latency gains.</a:t>
              </a:r>
              <a:endParaRPr b="0" sz="1100">
                <a:solidFill>
                  <a:srgbClr val="1B5E20"/>
                </a:solidFill>
                <a:latin typeface="Arial"/>
                <a:ea typeface="Arial"/>
                <a:cs typeface="Arial"/>
                <a:sym typeface="Arial"/>
              </a:endParaRPr>
            </a:p>
          </p:txBody>
        </p:sp>
      </p:grpSp>
      <p:sp>
        <p:nvSpPr>
          <p:cNvPr id="430" name="Google Shape;430;p54"/>
          <p:cNvSpPr txBox="1"/>
          <p:nvPr>
            <p:ph type="title"/>
          </p:nvPr>
        </p:nvSpPr>
        <p:spPr>
          <a:xfrm>
            <a:off x="523875" y="428625"/>
            <a:ext cx="80964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A1A1A"/>
                </a:solidFill>
                <a:latin typeface="Arial"/>
                <a:ea typeface="Arial"/>
                <a:cs typeface="Arial"/>
                <a:sym typeface="Arial"/>
              </a:rPr>
              <a:t>Summary of Main Results</a:t>
            </a:r>
            <a:endParaRPr b="1" sz="2800">
              <a:solidFill>
                <a:srgbClr val="1A1A1A"/>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55"/>
          <p:cNvPicPr preferRelativeResize="0"/>
          <p:nvPr/>
        </p:nvPicPr>
        <p:blipFill rotWithShape="1">
          <a:blip r:embed="rId3">
            <a:alphaModFix amt="10000"/>
          </a:blip>
          <a:srcRect b="720" l="1068" r="20" t="592"/>
          <a:stretch/>
        </p:blipFill>
        <p:spPr>
          <a:xfrm>
            <a:off x="232550" y="280500"/>
            <a:ext cx="8588100" cy="4582500"/>
          </a:xfrm>
          <a:prstGeom prst="roundRect">
            <a:avLst>
              <a:gd fmla="val 13460" name="adj"/>
            </a:avLst>
          </a:prstGeom>
          <a:noFill/>
          <a:ln>
            <a:noFill/>
          </a:ln>
        </p:spPr>
      </p:pic>
      <p:sp>
        <p:nvSpPr>
          <p:cNvPr id="436" name="Google Shape;436;p5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37" name="Google Shape;437;p55"/>
          <p:cNvSpPr txBox="1"/>
          <p:nvPr/>
        </p:nvSpPr>
        <p:spPr>
          <a:xfrm>
            <a:off x="491375" y="428625"/>
            <a:ext cx="81612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A1A1A"/>
                </a:solidFill>
                <a:latin typeface="Arial"/>
                <a:ea typeface="Arial"/>
                <a:cs typeface="Arial"/>
                <a:sym typeface="Arial"/>
              </a:rPr>
              <a:t>Experimental Evaluation </a:t>
            </a:r>
            <a:r>
              <a:rPr b="0" lang="en" sz="2000">
                <a:solidFill>
                  <a:srgbClr val="4A4A4A"/>
                </a:solidFill>
                <a:latin typeface="Arial"/>
                <a:ea typeface="Arial"/>
                <a:cs typeface="Arial"/>
                <a:sym typeface="Arial"/>
              </a:rPr>
              <a:t>(Efficiency Benchmarks)</a:t>
            </a:r>
            <a:endParaRPr b="1" sz="2800">
              <a:solidFill>
                <a:srgbClr val="1A1A1A"/>
              </a:solidFill>
              <a:latin typeface="Arial"/>
              <a:ea typeface="Arial"/>
              <a:cs typeface="Arial"/>
              <a:sym typeface="Arial"/>
            </a:endParaRPr>
          </a:p>
        </p:txBody>
      </p:sp>
      <p:grpSp>
        <p:nvGrpSpPr>
          <p:cNvPr id="438" name="Google Shape;438;p55"/>
          <p:cNvGrpSpPr/>
          <p:nvPr/>
        </p:nvGrpSpPr>
        <p:grpSpPr>
          <a:xfrm>
            <a:off x="476250" y="1095375"/>
            <a:ext cx="8191500" cy="3524400"/>
            <a:chOff x="476250" y="1095375"/>
            <a:chExt cx="8191500" cy="3524400"/>
          </a:xfrm>
        </p:grpSpPr>
        <p:grpSp>
          <p:nvGrpSpPr>
            <p:cNvPr id="439" name="Google Shape;439;p55"/>
            <p:cNvGrpSpPr/>
            <p:nvPr/>
          </p:nvGrpSpPr>
          <p:grpSpPr>
            <a:xfrm>
              <a:off x="476250" y="1095375"/>
              <a:ext cx="4000500" cy="904800"/>
              <a:chOff x="476250" y="1095375"/>
              <a:chExt cx="4000500" cy="904800"/>
            </a:xfrm>
          </p:grpSpPr>
          <p:sp>
            <p:nvSpPr>
              <p:cNvPr id="440" name="Google Shape;440;p55"/>
              <p:cNvSpPr/>
              <p:nvPr/>
            </p:nvSpPr>
            <p:spPr>
              <a:xfrm>
                <a:off x="476250" y="1095375"/>
                <a:ext cx="4000500" cy="904800"/>
              </a:xfrm>
              <a:prstGeom prst="roundRect">
                <a:avLst>
                  <a:gd fmla="val 12631" name="adj"/>
                </a:avLst>
              </a:prstGeom>
              <a:solidFill>
                <a:srgbClr val="FFFFFF">
                  <a:alpha val="90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55"/>
              <p:cNvSpPr txBox="1"/>
              <p:nvPr/>
            </p:nvSpPr>
            <p:spPr>
              <a:xfrm>
                <a:off x="619125" y="1190625"/>
                <a:ext cx="37149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Hardware</a:t>
                </a:r>
                <a:endParaRPr b="1" sz="1400">
                  <a:solidFill>
                    <a:srgbClr val="1A1A1A"/>
                  </a:solidFill>
                  <a:latin typeface="Arial"/>
                  <a:ea typeface="Arial"/>
                  <a:cs typeface="Arial"/>
                  <a:sym typeface="Arial"/>
                </a:endParaRPr>
              </a:p>
              <a:p>
                <a:pPr indent="0" lvl="0" marL="0" rtl="0" algn="l">
                  <a:spcBef>
                    <a:spcPts val="600"/>
                  </a:spcBef>
                  <a:spcAft>
                    <a:spcPts val="0"/>
                  </a:spcAft>
                  <a:buNone/>
                </a:pPr>
                <a:r>
                  <a:rPr lang="en" sz="1100">
                    <a:solidFill>
                      <a:srgbClr val="4A4A4A"/>
                    </a:solidFill>
                    <a:latin typeface="Arial"/>
                    <a:ea typeface="Arial"/>
                    <a:cs typeface="Arial"/>
                    <a:sym typeface="Arial"/>
                  </a:rPr>
                  <a:t>• Google Colab NVIDIA A100-SXM4 40GB</a:t>
                </a:r>
                <a:endParaRPr sz="1100">
                  <a:solidFill>
                    <a:srgbClr val="4A4A4A"/>
                  </a:solidFill>
                  <a:latin typeface="Arial"/>
                  <a:ea typeface="Arial"/>
                  <a:cs typeface="Arial"/>
                  <a:sym typeface="Arial"/>
                </a:endParaRPr>
              </a:p>
              <a:p>
                <a:pPr indent="0" lvl="0" marL="0" rtl="0" algn="l">
                  <a:spcBef>
                    <a:spcPts val="300"/>
                  </a:spcBef>
                  <a:spcAft>
                    <a:spcPts val="0"/>
                  </a:spcAft>
                  <a:buNone/>
                </a:pPr>
                <a:r>
                  <a:rPr lang="en" sz="1100">
                    <a:solidFill>
                      <a:srgbClr val="4A4A4A"/>
                    </a:solidFill>
                    <a:latin typeface="Arial"/>
                    <a:ea typeface="Arial"/>
                    <a:cs typeface="Arial"/>
                    <a:sym typeface="Arial"/>
                  </a:rPr>
                  <a:t>• Qwen2.5-VL-3B-Instruct, float16</a:t>
                </a:r>
                <a:endParaRPr sz="1100">
                  <a:solidFill>
                    <a:srgbClr val="4A4A4A"/>
                  </a:solidFill>
                  <a:latin typeface="Arial"/>
                  <a:ea typeface="Arial"/>
                  <a:cs typeface="Arial"/>
                  <a:sym typeface="Arial"/>
                </a:endParaRPr>
              </a:p>
            </p:txBody>
          </p:sp>
        </p:grpSp>
        <p:grpSp>
          <p:nvGrpSpPr>
            <p:cNvPr id="442" name="Google Shape;442;p55"/>
            <p:cNvGrpSpPr/>
            <p:nvPr/>
          </p:nvGrpSpPr>
          <p:grpSpPr>
            <a:xfrm>
              <a:off x="476250" y="2143125"/>
              <a:ext cx="4000500" cy="1285800"/>
              <a:chOff x="476250" y="2143125"/>
              <a:chExt cx="4000500" cy="1285800"/>
            </a:xfrm>
          </p:grpSpPr>
          <p:sp>
            <p:nvSpPr>
              <p:cNvPr id="443" name="Google Shape;443;p55"/>
              <p:cNvSpPr/>
              <p:nvPr/>
            </p:nvSpPr>
            <p:spPr>
              <a:xfrm>
                <a:off x="476250" y="2143125"/>
                <a:ext cx="4000500" cy="1285800"/>
              </a:xfrm>
              <a:prstGeom prst="roundRect">
                <a:avLst>
                  <a:gd fmla="val 8888" name="adj"/>
                </a:avLst>
              </a:prstGeom>
              <a:solidFill>
                <a:srgbClr val="FFFFFF">
                  <a:alpha val="90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55"/>
              <p:cNvSpPr txBox="1"/>
              <p:nvPr/>
            </p:nvSpPr>
            <p:spPr>
              <a:xfrm>
                <a:off x="619125" y="2238375"/>
                <a:ext cx="3714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Baseline Scaling</a:t>
                </a:r>
                <a:endParaRPr b="1" sz="1400">
                  <a:solidFill>
                    <a:srgbClr val="1A1A1A"/>
                  </a:solidFill>
                  <a:latin typeface="Arial"/>
                  <a:ea typeface="Arial"/>
                  <a:cs typeface="Arial"/>
                  <a:sym typeface="Arial"/>
                </a:endParaRPr>
              </a:p>
              <a:p>
                <a:pPr indent="0" lvl="0" marL="0" rtl="0" algn="l">
                  <a:spcBef>
                    <a:spcPts val="600"/>
                  </a:spcBef>
                  <a:spcAft>
                    <a:spcPts val="0"/>
                  </a:spcAft>
                  <a:buNone/>
                </a:pPr>
                <a:r>
                  <a:rPr lang="en" sz="1000">
                    <a:solidFill>
                      <a:srgbClr val="4A4A4A"/>
                    </a:solidFill>
                    <a:latin typeface="Arial"/>
                    <a:ea typeface="Arial"/>
                    <a:cs typeface="Arial"/>
                    <a:sym typeface="Arial"/>
                  </a:rPr>
                  <a:t>• Low res: 256 | Medium: 1024 | High: 2304 tokens</a:t>
                </a:r>
                <a:endParaRPr sz="1000">
                  <a:solidFill>
                    <a:srgbClr val="4A4A4A"/>
                  </a:solidFill>
                  <a:latin typeface="Arial"/>
                  <a:ea typeface="Arial"/>
                  <a:cs typeface="Arial"/>
                  <a:sym typeface="Arial"/>
                </a:endParaRPr>
              </a:p>
              <a:p>
                <a:pPr indent="0" lvl="0" marL="0" rtl="0" algn="l">
                  <a:spcBef>
                    <a:spcPts val="300"/>
                  </a:spcBef>
                  <a:spcAft>
                    <a:spcPts val="0"/>
                  </a:spcAft>
                  <a:buNone/>
                </a:pPr>
                <a:r>
                  <a:rPr b="1" lang="en" sz="1000">
                    <a:solidFill>
                      <a:srgbClr val="B22222"/>
                    </a:solidFill>
                    <a:latin typeface="Arial"/>
                    <a:ea typeface="Arial"/>
                    <a:cs typeface="Arial"/>
                    <a:sym typeface="Arial"/>
                  </a:rPr>
                  <a:t>• Peak memory: 7.2GB → 7.7GB</a:t>
                </a:r>
                <a:endParaRPr b="1" sz="1000">
                  <a:solidFill>
                    <a:srgbClr val="B22222"/>
                  </a:solidFill>
                  <a:latin typeface="Arial"/>
                  <a:ea typeface="Arial"/>
                  <a:cs typeface="Arial"/>
                  <a:sym typeface="Arial"/>
                </a:endParaRPr>
              </a:p>
            </p:txBody>
          </p:sp>
        </p:grpSp>
        <p:grpSp>
          <p:nvGrpSpPr>
            <p:cNvPr id="445" name="Google Shape;445;p55"/>
            <p:cNvGrpSpPr/>
            <p:nvPr/>
          </p:nvGrpSpPr>
          <p:grpSpPr>
            <a:xfrm>
              <a:off x="4667250" y="1095375"/>
              <a:ext cx="4000500" cy="1143000"/>
              <a:chOff x="4667250" y="1095375"/>
              <a:chExt cx="4000500" cy="1143000"/>
            </a:xfrm>
          </p:grpSpPr>
          <p:sp>
            <p:nvSpPr>
              <p:cNvPr id="446" name="Google Shape;446;p55"/>
              <p:cNvSpPr/>
              <p:nvPr/>
            </p:nvSpPr>
            <p:spPr>
              <a:xfrm>
                <a:off x="4667250" y="1095375"/>
                <a:ext cx="4000500" cy="1143000"/>
              </a:xfrm>
              <a:prstGeom prst="roundRect">
                <a:avLst>
                  <a:gd fmla="val 10000" name="adj"/>
                </a:avLst>
              </a:prstGeom>
              <a:solidFill>
                <a:srgbClr val="FFFFFF">
                  <a:alpha val="90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55"/>
              <p:cNvSpPr txBox="1"/>
              <p:nvPr/>
            </p:nvSpPr>
            <p:spPr>
              <a:xfrm>
                <a:off x="4810125" y="1190625"/>
                <a:ext cx="3714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Prefill Latency Benchmark</a:t>
                </a:r>
                <a:endParaRPr b="1" sz="1400">
                  <a:solidFill>
                    <a:srgbClr val="1A1A1A"/>
                  </a:solidFill>
                  <a:latin typeface="Arial"/>
                  <a:ea typeface="Arial"/>
                  <a:cs typeface="Arial"/>
                  <a:sym typeface="Arial"/>
                </a:endParaRPr>
              </a:p>
              <a:p>
                <a:pPr indent="0" lvl="0" marL="0" rtl="0" algn="l">
                  <a:spcBef>
                    <a:spcPts val="600"/>
                  </a:spcBef>
                  <a:spcAft>
                    <a:spcPts val="0"/>
                  </a:spcAft>
                  <a:buNone/>
                </a:pPr>
                <a:r>
                  <a:rPr lang="en" sz="1000">
                    <a:solidFill>
                      <a:srgbClr val="4A4A4A"/>
                    </a:solidFill>
                    <a:latin typeface="Arial"/>
                    <a:ea typeface="Arial"/>
                    <a:cs typeface="Arial"/>
                    <a:sym typeface="Arial"/>
                  </a:rPr>
                  <a:t>• Medium Baseline: 210.65 ms</a:t>
                </a:r>
                <a:endParaRPr sz="1000">
                  <a:solidFill>
                    <a:srgbClr val="4A4A4A"/>
                  </a:solidFill>
                  <a:latin typeface="Arial"/>
                  <a:ea typeface="Arial"/>
                  <a:cs typeface="Arial"/>
                  <a:sym typeface="Arial"/>
                </a:endParaRPr>
              </a:p>
              <a:p>
                <a:pPr indent="0" lvl="0" marL="0" rtl="0" algn="l">
                  <a:spcBef>
                    <a:spcPts val="300"/>
                  </a:spcBef>
                  <a:spcAft>
                    <a:spcPts val="0"/>
                  </a:spcAft>
                  <a:buNone/>
                </a:pPr>
                <a:r>
                  <a:rPr lang="en" sz="1000">
                    <a:solidFill>
                      <a:srgbClr val="4A4A4A"/>
                    </a:solidFill>
                    <a:latin typeface="Arial"/>
                    <a:ea typeface="Arial"/>
                    <a:cs typeface="Arial"/>
                    <a:sym typeface="Arial"/>
                  </a:rPr>
                  <a:t>• Best Compressed: ~223.79 ms</a:t>
                </a:r>
                <a:endParaRPr sz="1000">
                  <a:solidFill>
                    <a:srgbClr val="4A4A4A"/>
                  </a:solidFill>
                  <a:latin typeface="Arial"/>
                  <a:ea typeface="Arial"/>
                  <a:cs typeface="Arial"/>
                  <a:sym typeface="Arial"/>
                </a:endParaRPr>
              </a:p>
              <a:p>
                <a:pPr indent="0" lvl="0" marL="0" rtl="0" algn="l">
                  <a:spcBef>
                    <a:spcPts val="300"/>
                  </a:spcBef>
                  <a:spcAft>
                    <a:spcPts val="0"/>
                  </a:spcAft>
                  <a:buNone/>
                </a:pPr>
                <a:r>
                  <a:rPr b="1" lang="en" sz="1000">
                    <a:solidFill>
                      <a:srgbClr val="D32F2F"/>
                    </a:solidFill>
                    <a:latin typeface="Arial"/>
                    <a:ea typeface="Arial"/>
                    <a:cs typeface="Arial"/>
                    <a:sym typeface="Arial"/>
                  </a:rPr>
                  <a:t>• Result: 0.94× speed (Slower than baseline)</a:t>
                </a:r>
                <a:endParaRPr b="1" sz="1000">
                  <a:solidFill>
                    <a:srgbClr val="D32F2F"/>
                  </a:solidFill>
                  <a:latin typeface="Arial"/>
                  <a:ea typeface="Arial"/>
                  <a:cs typeface="Arial"/>
                  <a:sym typeface="Arial"/>
                </a:endParaRPr>
              </a:p>
            </p:txBody>
          </p:sp>
        </p:grpSp>
        <p:grpSp>
          <p:nvGrpSpPr>
            <p:cNvPr id="448" name="Google Shape;448;p55"/>
            <p:cNvGrpSpPr/>
            <p:nvPr/>
          </p:nvGrpSpPr>
          <p:grpSpPr>
            <a:xfrm>
              <a:off x="4667250" y="2381250"/>
              <a:ext cx="4000500" cy="1047900"/>
              <a:chOff x="4667250" y="2381250"/>
              <a:chExt cx="4000500" cy="1047900"/>
            </a:xfrm>
          </p:grpSpPr>
          <p:sp>
            <p:nvSpPr>
              <p:cNvPr id="449" name="Google Shape;449;p55"/>
              <p:cNvSpPr/>
              <p:nvPr/>
            </p:nvSpPr>
            <p:spPr>
              <a:xfrm>
                <a:off x="4667250" y="2381250"/>
                <a:ext cx="4000500" cy="1047900"/>
              </a:xfrm>
              <a:prstGeom prst="roundRect">
                <a:avLst>
                  <a:gd fmla="val 10909" name="adj"/>
                </a:avLst>
              </a:prstGeom>
              <a:solidFill>
                <a:srgbClr val="FFFFFF">
                  <a:alpha val="90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55"/>
              <p:cNvSpPr txBox="1"/>
              <p:nvPr/>
            </p:nvSpPr>
            <p:spPr>
              <a:xfrm>
                <a:off x="4810125" y="2476500"/>
                <a:ext cx="37149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Batch-Size Probe</a:t>
                </a:r>
                <a:endParaRPr b="1" sz="1400">
                  <a:solidFill>
                    <a:srgbClr val="1A1A1A"/>
                  </a:solidFill>
                  <a:latin typeface="Arial"/>
                  <a:ea typeface="Arial"/>
                  <a:cs typeface="Arial"/>
                  <a:sym typeface="Arial"/>
                </a:endParaRPr>
              </a:p>
              <a:p>
                <a:pPr indent="0" lvl="0" marL="0" rtl="0" algn="l">
                  <a:spcBef>
                    <a:spcPts val="600"/>
                  </a:spcBef>
                  <a:spcAft>
                    <a:spcPts val="0"/>
                  </a:spcAft>
                  <a:buNone/>
                </a:pPr>
                <a:r>
                  <a:rPr lang="en" sz="1000">
                    <a:solidFill>
                      <a:srgbClr val="4A4A4A"/>
                    </a:solidFill>
                    <a:latin typeface="Arial"/>
                    <a:ea typeface="Arial"/>
                    <a:cs typeface="Arial"/>
                    <a:sym typeface="Arial"/>
                  </a:rPr>
                  <a:t>• All settings reached batch size cap 8</a:t>
                </a:r>
                <a:endParaRPr sz="1000">
                  <a:solidFill>
                    <a:srgbClr val="4A4A4A"/>
                  </a:solidFill>
                  <a:latin typeface="Arial"/>
                  <a:ea typeface="Arial"/>
                  <a:cs typeface="Arial"/>
                  <a:sym typeface="Arial"/>
                </a:endParaRPr>
              </a:p>
              <a:p>
                <a:pPr indent="0" lvl="0" marL="0" rtl="0" algn="l">
                  <a:spcBef>
                    <a:spcPts val="300"/>
                  </a:spcBef>
                  <a:spcAft>
                    <a:spcPts val="0"/>
                  </a:spcAft>
                  <a:buNone/>
                </a:pPr>
                <a:r>
                  <a:rPr i="1" lang="en" sz="1000">
                    <a:solidFill>
                      <a:srgbClr val="666666"/>
                    </a:solidFill>
                    <a:latin typeface="Arial"/>
                    <a:ea typeface="Arial"/>
                    <a:cs typeface="Arial"/>
                    <a:sym typeface="Arial"/>
                  </a:rPr>
                  <a:t>• Inconclusive: Higher cap needed for OOM</a:t>
                </a:r>
                <a:endParaRPr i="1" sz="1000">
                  <a:solidFill>
                    <a:srgbClr val="666666"/>
                  </a:solidFill>
                  <a:latin typeface="Arial"/>
                  <a:ea typeface="Arial"/>
                  <a:cs typeface="Arial"/>
                  <a:sym typeface="Arial"/>
                </a:endParaRPr>
              </a:p>
            </p:txBody>
          </p:sp>
        </p:grpSp>
        <p:grpSp>
          <p:nvGrpSpPr>
            <p:cNvPr id="451" name="Google Shape;451;p55"/>
            <p:cNvGrpSpPr/>
            <p:nvPr/>
          </p:nvGrpSpPr>
          <p:grpSpPr>
            <a:xfrm>
              <a:off x="476250" y="3571875"/>
              <a:ext cx="8191500" cy="1047900"/>
              <a:chOff x="476250" y="3571875"/>
              <a:chExt cx="8191500" cy="1047900"/>
            </a:xfrm>
          </p:grpSpPr>
          <p:sp>
            <p:nvSpPr>
              <p:cNvPr id="452" name="Google Shape;452;p55"/>
              <p:cNvSpPr/>
              <p:nvPr/>
            </p:nvSpPr>
            <p:spPr>
              <a:xfrm>
                <a:off x="476250" y="3571875"/>
                <a:ext cx="8191500" cy="1047900"/>
              </a:xfrm>
              <a:prstGeom prst="roundRect">
                <a:avLst>
                  <a:gd fmla="val 10909" name="adj"/>
                </a:avLst>
              </a:prstGeom>
              <a:solidFill>
                <a:srgbClr val="E8F5E9"/>
              </a:solidFill>
              <a:ln cap="flat" cmpd="sng" w="14300">
                <a:solidFill>
                  <a:srgbClr val="2E7D3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55"/>
              <p:cNvSpPr txBox="1"/>
              <p:nvPr/>
            </p:nvSpPr>
            <p:spPr>
              <a:xfrm>
                <a:off x="666750" y="3667125"/>
                <a:ext cx="7810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1B5E20"/>
                    </a:solidFill>
                    <a:latin typeface="Arial"/>
                    <a:ea typeface="Arial"/>
                    <a:cs typeface="Arial"/>
                    <a:sym typeface="Arial"/>
                  </a:rPr>
                  <a:t>Efficiency Takeaway</a:t>
                </a:r>
                <a:endParaRPr b="1" sz="1500">
                  <a:solidFill>
                    <a:srgbClr val="1B5E20"/>
                  </a:solidFill>
                  <a:latin typeface="Arial"/>
                  <a:ea typeface="Arial"/>
                  <a:cs typeface="Arial"/>
                  <a:sym typeface="Arial"/>
                </a:endParaRPr>
              </a:p>
              <a:p>
                <a:pPr indent="0" lvl="0" marL="0" rtl="0" algn="l">
                  <a:spcBef>
                    <a:spcPts val="450"/>
                  </a:spcBef>
                  <a:spcAft>
                    <a:spcPts val="0"/>
                  </a:spcAft>
                  <a:buNone/>
                </a:pPr>
                <a:r>
                  <a:rPr lang="en" sz="1100">
                    <a:solidFill>
                      <a:srgbClr val="1B5E20"/>
                    </a:solidFill>
                    <a:latin typeface="Arial"/>
                    <a:ea typeface="Arial"/>
                    <a:cs typeface="Arial"/>
                    <a:sym typeface="Arial"/>
                  </a:rPr>
                  <a:t>Token reduction alone is insufficient. Future work must focus on reducing compression overhead and testing larger batch limits.</a:t>
                </a:r>
                <a:endParaRPr sz="1100">
                  <a:solidFill>
                    <a:srgbClr val="1B5E20"/>
                  </a:solidFill>
                  <a:latin typeface="Arial"/>
                  <a:ea typeface="Arial"/>
                  <a:cs typeface="Arial"/>
                  <a:sym typeface="Arial"/>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id="458" name="Google Shape;458;p56"/>
          <p:cNvPicPr preferRelativeResize="0"/>
          <p:nvPr/>
        </p:nvPicPr>
        <p:blipFill rotWithShape="1">
          <a:blip r:embed="rId3">
            <a:alphaModFix amt="10000"/>
          </a:blip>
          <a:srcRect b="720" l="1068" r="20" t="592"/>
          <a:stretch/>
        </p:blipFill>
        <p:spPr>
          <a:xfrm>
            <a:off x="277425" y="277650"/>
            <a:ext cx="8588100" cy="4582500"/>
          </a:xfrm>
          <a:prstGeom prst="roundRect">
            <a:avLst>
              <a:gd fmla="val 13460" name="adj"/>
            </a:avLst>
          </a:prstGeom>
          <a:noFill/>
          <a:ln>
            <a:noFill/>
          </a:ln>
        </p:spPr>
      </p:pic>
      <p:sp>
        <p:nvSpPr>
          <p:cNvPr id="459" name="Google Shape;459;p5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460" name="Google Shape;460;p56"/>
          <p:cNvGrpSpPr/>
          <p:nvPr/>
        </p:nvGrpSpPr>
        <p:grpSpPr>
          <a:xfrm>
            <a:off x="476250" y="1095375"/>
            <a:ext cx="4048200" cy="1428900"/>
            <a:chOff x="476250" y="1095375"/>
            <a:chExt cx="4048200" cy="1428900"/>
          </a:xfrm>
        </p:grpSpPr>
        <p:sp>
          <p:nvSpPr>
            <p:cNvPr id="461" name="Google Shape;461;p56"/>
            <p:cNvSpPr/>
            <p:nvPr/>
          </p:nvSpPr>
          <p:spPr>
            <a:xfrm>
              <a:off x="476250" y="1095375"/>
              <a:ext cx="4048200" cy="1428900"/>
            </a:xfrm>
            <a:prstGeom prst="roundRect">
              <a:avLst>
                <a:gd fmla="val 8000"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56"/>
            <p:cNvSpPr txBox="1"/>
            <p:nvPr/>
          </p:nvSpPr>
          <p:spPr>
            <a:xfrm>
              <a:off x="619125" y="1190625"/>
              <a:ext cx="37623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95">
                  <a:solidFill>
                    <a:srgbClr val="1A1A1A"/>
                  </a:solidFill>
                  <a:latin typeface="Arial"/>
                  <a:ea typeface="Arial"/>
                  <a:cs typeface="Arial"/>
                  <a:sym typeface="Arial"/>
                </a:rPr>
                <a:t>Benchmarking Tasks</a:t>
              </a:r>
              <a:endParaRPr b="1" sz="1295">
                <a:solidFill>
                  <a:srgbClr val="1A1A1A"/>
                </a:solidFill>
                <a:latin typeface="Arial"/>
                <a:ea typeface="Arial"/>
                <a:cs typeface="Arial"/>
                <a:sym typeface="Arial"/>
              </a:endParaRPr>
            </a:p>
            <a:p>
              <a:pPr indent="-293211" lvl="0" marL="457200" rtl="0" algn="l">
                <a:spcBef>
                  <a:spcPts val="600"/>
                </a:spcBef>
                <a:spcAft>
                  <a:spcPts val="0"/>
                </a:spcAft>
                <a:buClr>
                  <a:srgbClr val="333333"/>
                </a:buClr>
                <a:buSzPts val="1018"/>
                <a:buFont typeface="Arial"/>
                <a:buChar char="●"/>
              </a:pPr>
              <a:r>
                <a:rPr b="1" lang="en" sz="1018">
                  <a:solidFill>
                    <a:srgbClr val="333333"/>
                  </a:solidFill>
                  <a:latin typeface="Arial"/>
                  <a:ea typeface="Arial"/>
                  <a:cs typeface="Arial"/>
                  <a:sym typeface="Arial"/>
                </a:rPr>
                <a:t>Quality:</a:t>
              </a:r>
              <a:r>
                <a:rPr lang="en" sz="1018">
                  <a:solidFill>
                    <a:srgbClr val="333333"/>
                  </a:solidFill>
                  <a:latin typeface="Arial"/>
                  <a:ea typeface="Arial"/>
                  <a:cs typeface="Arial"/>
                  <a:sym typeface="Arial"/>
                </a:rPr>
                <a:t> VQA-v2 subset from </a:t>
              </a:r>
              <a:r>
                <a:rPr lang="en" sz="1018">
                  <a:solidFill>
                    <a:srgbClr val="333333"/>
                  </a:solidFill>
                  <a:latin typeface="Courier New"/>
                  <a:ea typeface="Courier New"/>
                  <a:cs typeface="Courier New"/>
                  <a:sym typeface="Courier New"/>
                </a:rPr>
                <a:t>lmms-lab/VQAv2</a:t>
              </a:r>
              <a:endParaRPr sz="1018">
                <a:solidFill>
                  <a:srgbClr val="333333"/>
                </a:solidFill>
                <a:latin typeface="Arial"/>
                <a:ea typeface="Arial"/>
                <a:cs typeface="Arial"/>
                <a:sym typeface="Arial"/>
              </a:endParaRPr>
            </a:p>
            <a:p>
              <a:pPr indent="-293211" lvl="0" marL="457200" rtl="0" algn="l">
                <a:spcBef>
                  <a:spcPts val="450"/>
                </a:spcBef>
                <a:spcAft>
                  <a:spcPts val="0"/>
                </a:spcAft>
                <a:buClr>
                  <a:srgbClr val="333333"/>
                </a:buClr>
                <a:buSzPts val="1018"/>
                <a:buFont typeface="Arial"/>
                <a:buChar char="●"/>
              </a:pPr>
              <a:r>
                <a:rPr b="1" lang="en" sz="1018">
                  <a:solidFill>
                    <a:srgbClr val="333333"/>
                  </a:solidFill>
                  <a:latin typeface="Arial"/>
                  <a:ea typeface="Arial"/>
                  <a:cs typeface="Arial"/>
                  <a:sym typeface="Arial"/>
                </a:rPr>
                <a:t>Efficiency:</a:t>
              </a:r>
              <a:r>
                <a:rPr lang="en" sz="1018">
                  <a:solidFill>
                    <a:srgbClr val="333333"/>
                  </a:solidFill>
                  <a:latin typeface="Arial"/>
                  <a:ea typeface="Arial"/>
                  <a:cs typeface="Arial"/>
                  <a:sym typeface="Arial"/>
                </a:rPr>
                <a:t> Synthetic images at low / medium / high res</a:t>
              </a:r>
              <a:endParaRPr sz="1018">
                <a:solidFill>
                  <a:srgbClr val="333333"/>
                </a:solidFill>
                <a:latin typeface="Arial"/>
                <a:ea typeface="Arial"/>
                <a:cs typeface="Arial"/>
                <a:sym typeface="Arial"/>
              </a:endParaRPr>
            </a:p>
            <a:p>
              <a:pPr indent="-293211" lvl="0" marL="457200" rtl="0" algn="l">
                <a:spcBef>
                  <a:spcPts val="450"/>
                </a:spcBef>
                <a:spcAft>
                  <a:spcPts val="0"/>
                </a:spcAft>
                <a:buClr>
                  <a:srgbClr val="333333"/>
                </a:buClr>
                <a:buSzPts val="1018"/>
                <a:buFont typeface="Arial"/>
                <a:buChar char="●"/>
              </a:pPr>
              <a:r>
                <a:rPr b="1" lang="en" sz="1018">
                  <a:solidFill>
                    <a:srgbClr val="333333"/>
                  </a:solidFill>
                  <a:latin typeface="Arial"/>
                  <a:ea typeface="Arial"/>
                  <a:cs typeface="Arial"/>
                  <a:sym typeface="Arial"/>
                </a:rPr>
                <a:t>Model:</a:t>
              </a:r>
              <a:r>
                <a:rPr lang="en" sz="1018">
                  <a:solidFill>
                    <a:srgbClr val="333333"/>
                  </a:solidFill>
                  <a:latin typeface="Arial"/>
                  <a:ea typeface="Arial"/>
                  <a:cs typeface="Arial"/>
                  <a:sym typeface="Arial"/>
                </a:rPr>
                <a:t> Qwen2.5-VL-3B-Instruct on Colab A100 40GB</a:t>
              </a:r>
              <a:endParaRPr sz="1018">
                <a:solidFill>
                  <a:srgbClr val="333333"/>
                </a:solidFill>
                <a:latin typeface="Arial"/>
                <a:ea typeface="Arial"/>
                <a:cs typeface="Arial"/>
                <a:sym typeface="Arial"/>
              </a:endParaRPr>
            </a:p>
          </p:txBody>
        </p:sp>
      </p:grpSp>
      <p:grpSp>
        <p:nvGrpSpPr>
          <p:cNvPr id="463" name="Google Shape;463;p56"/>
          <p:cNvGrpSpPr/>
          <p:nvPr/>
        </p:nvGrpSpPr>
        <p:grpSpPr>
          <a:xfrm>
            <a:off x="4667250" y="1095375"/>
            <a:ext cx="4048200" cy="1428900"/>
            <a:chOff x="4667250" y="1095375"/>
            <a:chExt cx="4048200" cy="1428900"/>
          </a:xfrm>
        </p:grpSpPr>
        <p:sp>
          <p:nvSpPr>
            <p:cNvPr id="464" name="Google Shape;464;p56"/>
            <p:cNvSpPr/>
            <p:nvPr/>
          </p:nvSpPr>
          <p:spPr>
            <a:xfrm>
              <a:off x="4667250" y="1095375"/>
              <a:ext cx="4048200" cy="1428900"/>
            </a:xfrm>
            <a:prstGeom prst="roundRect">
              <a:avLst>
                <a:gd fmla="val 8000"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56"/>
            <p:cNvSpPr txBox="1"/>
            <p:nvPr/>
          </p:nvSpPr>
          <p:spPr>
            <a:xfrm>
              <a:off x="4810125" y="1190625"/>
              <a:ext cx="37623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Quality Metric</a:t>
              </a:r>
              <a:endParaRPr b="1" sz="1400">
                <a:solidFill>
                  <a:srgbClr val="1A1A1A"/>
                </a:solidFill>
                <a:latin typeface="Arial"/>
                <a:ea typeface="Arial"/>
                <a:cs typeface="Arial"/>
                <a:sym typeface="Arial"/>
              </a:endParaRPr>
            </a:p>
            <a:p>
              <a:pPr indent="-298450" lvl="0" marL="457200" rtl="0" algn="l">
                <a:spcBef>
                  <a:spcPts val="600"/>
                </a:spcBef>
                <a:spcAft>
                  <a:spcPts val="0"/>
                </a:spcAft>
                <a:buClr>
                  <a:srgbClr val="333333"/>
                </a:buClr>
                <a:buSzPts val="1100"/>
                <a:buFont typeface="Arial"/>
                <a:buChar char="●"/>
              </a:pPr>
              <a:r>
                <a:rPr lang="en" sz="1100">
                  <a:solidFill>
                    <a:srgbClr val="333333"/>
                  </a:solidFill>
                  <a:latin typeface="Arial"/>
                  <a:ea typeface="Arial"/>
                  <a:cs typeface="Arial"/>
                  <a:sym typeface="Arial"/>
                </a:rPr>
                <a:t>Official VQA accuracy (10 human answers)</a:t>
              </a:r>
              <a:endParaRPr sz="1100">
                <a:solidFill>
                  <a:srgbClr val="333333"/>
                </a:solidFill>
                <a:latin typeface="Arial"/>
                <a:ea typeface="Arial"/>
                <a:cs typeface="Arial"/>
                <a:sym typeface="Arial"/>
              </a:endParaRPr>
            </a:p>
            <a:p>
              <a:pPr indent="-298450" lvl="0" marL="457200" rtl="0" algn="l">
                <a:spcBef>
                  <a:spcPts val="450"/>
                </a:spcBef>
                <a:spcAft>
                  <a:spcPts val="0"/>
                </a:spcAft>
                <a:buClr>
                  <a:srgbClr val="333333"/>
                </a:buClr>
                <a:buSzPts val="1100"/>
                <a:buFont typeface="Arial"/>
                <a:buChar char="●"/>
              </a:pPr>
              <a:r>
                <a:rPr lang="en" sz="1100">
                  <a:solidFill>
                    <a:srgbClr val="333333"/>
                  </a:solidFill>
                  <a:latin typeface="Arial"/>
                  <a:ea typeface="Arial"/>
                  <a:cs typeface="Arial"/>
                  <a:sym typeface="Arial"/>
                </a:rPr>
                <a:t>Normalized answer scoring (VQA protocol)</a:t>
              </a:r>
              <a:endParaRPr sz="1100">
                <a:solidFill>
                  <a:srgbClr val="333333"/>
                </a:solidFill>
                <a:latin typeface="Arial"/>
                <a:ea typeface="Arial"/>
                <a:cs typeface="Arial"/>
                <a:sym typeface="Arial"/>
              </a:endParaRPr>
            </a:p>
            <a:p>
              <a:pPr indent="-298450" lvl="0" marL="457200" rtl="0" algn="l">
                <a:spcBef>
                  <a:spcPts val="450"/>
                </a:spcBef>
                <a:spcAft>
                  <a:spcPts val="0"/>
                </a:spcAft>
                <a:buClr>
                  <a:srgbClr val="333333"/>
                </a:buClr>
                <a:buSzPts val="1100"/>
                <a:buFont typeface="Arial"/>
                <a:buChar char="●"/>
              </a:pPr>
              <a:r>
                <a:rPr lang="en" sz="1100">
                  <a:solidFill>
                    <a:srgbClr val="333333"/>
                  </a:solidFill>
                  <a:latin typeface="Arial"/>
                  <a:ea typeface="Arial"/>
                  <a:cs typeface="Arial"/>
                  <a:sym typeface="Arial"/>
                </a:rPr>
                <a:t>Bootstrap CI used for 50-sample stability</a:t>
              </a:r>
              <a:endParaRPr sz="1100">
                <a:solidFill>
                  <a:srgbClr val="333333"/>
                </a:solidFill>
                <a:latin typeface="Arial"/>
                <a:ea typeface="Arial"/>
                <a:cs typeface="Arial"/>
                <a:sym typeface="Arial"/>
              </a:endParaRPr>
            </a:p>
          </p:txBody>
        </p:sp>
      </p:grpSp>
      <p:grpSp>
        <p:nvGrpSpPr>
          <p:cNvPr id="466" name="Google Shape;466;p56"/>
          <p:cNvGrpSpPr/>
          <p:nvPr/>
        </p:nvGrpSpPr>
        <p:grpSpPr>
          <a:xfrm>
            <a:off x="476250" y="2667000"/>
            <a:ext cx="4048200" cy="1524000"/>
            <a:chOff x="476250" y="2667000"/>
            <a:chExt cx="4048200" cy="1524000"/>
          </a:xfrm>
        </p:grpSpPr>
        <p:sp>
          <p:nvSpPr>
            <p:cNvPr id="467" name="Google Shape;467;p56"/>
            <p:cNvSpPr/>
            <p:nvPr/>
          </p:nvSpPr>
          <p:spPr>
            <a:xfrm>
              <a:off x="476250" y="2667000"/>
              <a:ext cx="4048200" cy="1524000"/>
            </a:xfrm>
            <a:prstGeom prst="roundRect">
              <a:avLst>
                <a:gd fmla="val 7500"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56"/>
            <p:cNvSpPr txBox="1"/>
            <p:nvPr/>
          </p:nvSpPr>
          <p:spPr>
            <a:xfrm>
              <a:off x="619125" y="2762250"/>
              <a:ext cx="37623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Observed Trade-off</a:t>
              </a:r>
              <a:endParaRPr b="1" sz="1400">
                <a:solidFill>
                  <a:srgbClr val="1A1A1A"/>
                </a:solidFill>
                <a:latin typeface="Arial"/>
                <a:ea typeface="Arial"/>
                <a:cs typeface="Arial"/>
                <a:sym typeface="Arial"/>
              </a:endParaRPr>
            </a:p>
            <a:p>
              <a:pPr indent="-298450" lvl="0" marL="457200" rtl="0" algn="l">
                <a:spcBef>
                  <a:spcPts val="600"/>
                </a:spcBef>
                <a:spcAft>
                  <a:spcPts val="0"/>
                </a:spcAft>
                <a:buClr>
                  <a:srgbClr val="333333"/>
                </a:buClr>
                <a:buSzPts val="1100"/>
                <a:buFont typeface="Arial"/>
                <a:buChar char="●"/>
              </a:pPr>
              <a:r>
                <a:rPr lang="en" sz="1100">
                  <a:solidFill>
                    <a:srgbClr val="333333"/>
                  </a:solidFill>
                  <a:latin typeface="Arial"/>
                  <a:ea typeface="Arial"/>
                  <a:cs typeface="Arial"/>
                  <a:sym typeface="Arial"/>
                </a:rPr>
                <a:t>Moderate compression preserved quality</a:t>
              </a:r>
              <a:endParaRPr sz="1100">
                <a:solidFill>
                  <a:srgbClr val="333333"/>
                </a:solidFill>
                <a:latin typeface="Arial"/>
                <a:ea typeface="Arial"/>
                <a:cs typeface="Arial"/>
                <a:sym typeface="Arial"/>
              </a:endParaRPr>
            </a:p>
            <a:p>
              <a:pPr indent="-298450" lvl="0" marL="457200" rtl="0" algn="l">
                <a:spcBef>
                  <a:spcPts val="450"/>
                </a:spcBef>
                <a:spcAft>
                  <a:spcPts val="0"/>
                </a:spcAft>
                <a:buClr>
                  <a:srgbClr val="333333"/>
                </a:buClr>
                <a:buSzPts val="1100"/>
                <a:buFont typeface="Arial"/>
                <a:buChar char="●"/>
              </a:pPr>
              <a:r>
                <a:rPr lang="en" sz="1100">
                  <a:solidFill>
                    <a:srgbClr val="333333"/>
                  </a:solidFill>
                  <a:latin typeface="Arial"/>
                  <a:ea typeface="Arial"/>
                  <a:cs typeface="Arial"/>
                  <a:sym typeface="Arial"/>
                </a:rPr>
                <a:t>Aggressive pruning (10%) degraded quality</a:t>
              </a:r>
              <a:endParaRPr sz="1100">
                <a:solidFill>
                  <a:srgbClr val="333333"/>
                </a:solidFill>
                <a:latin typeface="Arial"/>
                <a:ea typeface="Arial"/>
                <a:cs typeface="Arial"/>
                <a:sym typeface="Arial"/>
              </a:endParaRPr>
            </a:p>
            <a:p>
              <a:pPr indent="-298450" lvl="0" marL="457200" rtl="0" algn="l">
                <a:spcBef>
                  <a:spcPts val="450"/>
                </a:spcBef>
                <a:spcAft>
                  <a:spcPts val="0"/>
                </a:spcAft>
                <a:buClr>
                  <a:srgbClr val="333333"/>
                </a:buClr>
                <a:buSzPts val="1100"/>
                <a:buFont typeface="Arial"/>
                <a:buChar char="●"/>
              </a:pPr>
              <a:r>
                <a:rPr lang="en" sz="1100">
                  <a:solidFill>
                    <a:srgbClr val="333333"/>
                  </a:solidFill>
                  <a:latin typeface="Arial"/>
                  <a:ea typeface="Arial"/>
                  <a:cs typeface="Arial"/>
                  <a:sym typeface="Arial"/>
                </a:rPr>
                <a:t>No clear latency-quality Pareto improvement</a:t>
              </a:r>
              <a:endParaRPr sz="1100">
                <a:solidFill>
                  <a:srgbClr val="333333"/>
                </a:solidFill>
                <a:latin typeface="Arial"/>
                <a:ea typeface="Arial"/>
                <a:cs typeface="Arial"/>
                <a:sym typeface="Arial"/>
              </a:endParaRPr>
            </a:p>
          </p:txBody>
        </p:sp>
      </p:grpSp>
      <p:grpSp>
        <p:nvGrpSpPr>
          <p:cNvPr id="469" name="Google Shape;469;p56"/>
          <p:cNvGrpSpPr/>
          <p:nvPr/>
        </p:nvGrpSpPr>
        <p:grpSpPr>
          <a:xfrm>
            <a:off x="4667250" y="2667000"/>
            <a:ext cx="4048200" cy="1524000"/>
            <a:chOff x="4667250" y="2667000"/>
            <a:chExt cx="4048200" cy="1524000"/>
          </a:xfrm>
        </p:grpSpPr>
        <p:sp>
          <p:nvSpPr>
            <p:cNvPr id="470" name="Google Shape;470;p56"/>
            <p:cNvSpPr/>
            <p:nvPr/>
          </p:nvSpPr>
          <p:spPr>
            <a:xfrm>
              <a:off x="4667250" y="2667000"/>
              <a:ext cx="4048200" cy="1524000"/>
            </a:xfrm>
            <a:prstGeom prst="roundRect">
              <a:avLst>
                <a:gd fmla="val 7500" name="adj"/>
              </a:avLst>
            </a:prstGeom>
            <a:solidFill>
              <a:srgbClr val="E8F5E9"/>
            </a:solidFill>
            <a:ln cap="flat" cmpd="sng" w="14300">
              <a:solidFill>
                <a:srgbClr val="2E7D3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56"/>
            <p:cNvSpPr txBox="1"/>
            <p:nvPr/>
          </p:nvSpPr>
          <p:spPr>
            <a:xfrm>
              <a:off x="4810125" y="2762250"/>
              <a:ext cx="37623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1B5E20"/>
                  </a:solidFill>
                  <a:latin typeface="Arial"/>
                  <a:ea typeface="Arial"/>
                  <a:cs typeface="Arial"/>
                  <a:sym typeface="Arial"/>
                </a:rPr>
                <a:t>Interpretation</a:t>
              </a:r>
              <a:endParaRPr b="1" sz="1400">
                <a:solidFill>
                  <a:srgbClr val="1B5E20"/>
                </a:solidFill>
                <a:latin typeface="Arial"/>
                <a:ea typeface="Arial"/>
                <a:cs typeface="Arial"/>
                <a:sym typeface="Arial"/>
              </a:endParaRPr>
            </a:p>
            <a:p>
              <a:pPr indent="0" lvl="0" marL="0" rtl="0" algn="l">
                <a:spcBef>
                  <a:spcPts val="450"/>
                </a:spcBef>
                <a:spcAft>
                  <a:spcPts val="0"/>
                </a:spcAft>
                <a:buNone/>
              </a:pPr>
              <a:r>
                <a:rPr b="1" lang="en" sz="1100">
                  <a:solidFill>
                    <a:srgbClr val="1B5E20"/>
                  </a:solidFill>
                  <a:latin typeface="Arial"/>
                  <a:ea typeface="Arial"/>
                  <a:cs typeface="Arial"/>
                  <a:sym typeface="Arial"/>
                </a:rPr>
                <a:t>•</a:t>
              </a:r>
              <a:r>
                <a:rPr lang="en" sz="1100">
                  <a:solidFill>
                    <a:srgbClr val="1B5E20"/>
                  </a:solidFill>
                  <a:latin typeface="Arial"/>
                  <a:ea typeface="Arial"/>
                  <a:cs typeface="Arial"/>
                  <a:sym typeface="Arial"/>
                </a:rPr>
                <a:t> Quality preservation is promising.</a:t>
              </a:r>
              <a:endParaRPr sz="1100">
                <a:solidFill>
                  <a:srgbClr val="1B5E20"/>
                </a:solidFill>
                <a:latin typeface="Arial"/>
                <a:ea typeface="Arial"/>
                <a:cs typeface="Arial"/>
                <a:sym typeface="Arial"/>
              </a:endParaRPr>
            </a:p>
            <a:p>
              <a:pPr indent="0" lvl="0" marL="0" rtl="0" algn="l">
                <a:spcBef>
                  <a:spcPts val="600"/>
                </a:spcBef>
                <a:spcAft>
                  <a:spcPts val="0"/>
                </a:spcAft>
                <a:buNone/>
              </a:pPr>
              <a:r>
                <a:rPr b="1" lang="en" sz="1100">
                  <a:solidFill>
                    <a:srgbClr val="1B5E20"/>
                  </a:solidFill>
                  <a:latin typeface="Arial"/>
                  <a:ea typeface="Arial"/>
                  <a:cs typeface="Arial"/>
                  <a:sym typeface="Arial"/>
                </a:rPr>
                <a:t>•</a:t>
              </a:r>
              <a:r>
                <a:rPr lang="en" sz="1100">
                  <a:solidFill>
                    <a:srgbClr val="1B5E20"/>
                  </a:solidFill>
                  <a:latin typeface="Arial"/>
                  <a:ea typeface="Arial"/>
                  <a:cs typeface="Arial"/>
                  <a:sym typeface="Arial"/>
                </a:rPr>
                <a:t> Efficiency gains blocked by wrapper overhead in current implementation.</a:t>
              </a:r>
              <a:endParaRPr sz="1100">
                <a:solidFill>
                  <a:srgbClr val="1B5E20"/>
                </a:solidFill>
                <a:latin typeface="Arial"/>
                <a:ea typeface="Arial"/>
                <a:cs typeface="Arial"/>
                <a:sym typeface="Arial"/>
              </a:endParaRPr>
            </a:p>
          </p:txBody>
        </p:sp>
      </p:grpSp>
      <p:sp>
        <p:nvSpPr>
          <p:cNvPr id="472" name="Google Shape;472;p56"/>
          <p:cNvSpPr txBox="1"/>
          <p:nvPr>
            <p:ph type="title"/>
          </p:nvPr>
        </p:nvSpPr>
        <p:spPr>
          <a:xfrm>
            <a:off x="491375" y="428625"/>
            <a:ext cx="8257800" cy="529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800">
                <a:solidFill>
                  <a:srgbClr val="1A1A1A"/>
                </a:solidFill>
                <a:latin typeface="Arial"/>
                <a:ea typeface="Arial"/>
                <a:cs typeface="Arial"/>
                <a:sym typeface="Arial"/>
              </a:rPr>
              <a:t>Experimental Evaluation </a:t>
            </a:r>
            <a:r>
              <a:rPr b="0" i="0" lang="en" sz="2000">
                <a:solidFill>
                  <a:srgbClr val="4A4A4A"/>
                </a:solidFill>
                <a:latin typeface="Arial"/>
                <a:ea typeface="Arial"/>
                <a:cs typeface="Arial"/>
                <a:sym typeface="Arial"/>
              </a:rPr>
              <a:t>(Accuracy-Efficiency Trade-off)</a:t>
            </a:r>
            <a:endParaRPr b="1" i="0" sz="2800">
              <a:solidFill>
                <a:srgbClr val="1A1A1A"/>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57"/>
          <p:cNvPicPr preferRelativeResize="0"/>
          <p:nvPr/>
        </p:nvPicPr>
        <p:blipFill rotWithShape="1">
          <a:blip r:embed="rId3">
            <a:alphaModFix amt="10000"/>
          </a:blip>
          <a:srcRect b="720" l="1068" r="20" t="592"/>
          <a:stretch/>
        </p:blipFill>
        <p:spPr>
          <a:xfrm>
            <a:off x="277425" y="277650"/>
            <a:ext cx="8588100" cy="4582500"/>
          </a:xfrm>
          <a:prstGeom prst="roundRect">
            <a:avLst>
              <a:gd fmla="val 13460" name="adj"/>
            </a:avLst>
          </a:prstGeom>
          <a:noFill/>
          <a:ln>
            <a:noFill/>
          </a:ln>
        </p:spPr>
      </p:pic>
      <p:sp>
        <p:nvSpPr>
          <p:cNvPr id="478" name="Google Shape;478;p5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479" name="Google Shape;479;p57"/>
          <p:cNvGrpSpPr/>
          <p:nvPr/>
        </p:nvGrpSpPr>
        <p:grpSpPr>
          <a:xfrm>
            <a:off x="476250" y="1190625"/>
            <a:ext cx="4048200" cy="3238500"/>
            <a:chOff x="476250" y="1190625"/>
            <a:chExt cx="4048200" cy="3238500"/>
          </a:xfrm>
        </p:grpSpPr>
        <p:sp>
          <p:nvSpPr>
            <p:cNvPr id="480" name="Google Shape;480;p57"/>
            <p:cNvSpPr/>
            <p:nvPr/>
          </p:nvSpPr>
          <p:spPr>
            <a:xfrm>
              <a:off x="476250" y="1190625"/>
              <a:ext cx="4048200" cy="3238500"/>
            </a:xfrm>
            <a:prstGeom prst="roundRect">
              <a:avLst>
                <a:gd fmla="val 3529" name="adj"/>
              </a:avLst>
            </a:prstGeom>
            <a:solidFill>
              <a:srgbClr val="FFFFFF">
                <a:alpha val="85000"/>
              </a:srgbClr>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57"/>
            <p:cNvSpPr txBox="1"/>
            <p:nvPr/>
          </p:nvSpPr>
          <p:spPr>
            <a:xfrm>
              <a:off x="619125" y="1333500"/>
              <a:ext cx="37623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Arial"/>
                  <a:ea typeface="Arial"/>
                  <a:cs typeface="Arial"/>
                  <a:sym typeface="Arial"/>
                </a:rPr>
                <a:t>Observations</a:t>
              </a:r>
              <a:endParaRPr b="1" sz="1400">
                <a:solidFill>
                  <a:srgbClr val="1A1A1A"/>
                </a:solidFill>
                <a:latin typeface="Arial"/>
                <a:ea typeface="Arial"/>
                <a:cs typeface="Arial"/>
                <a:sym typeface="Arial"/>
              </a:endParaRPr>
            </a:p>
            <a:p>
              <a:pPr indent="-298450" lvl="0" marL="457200" rtl="0" algn="l">
                <a:spcBef>
                  <a:spcPts val="1200"/>
                </a:spcBef>
                <a:spcAft>
                  <a:spcPts val="0"/>
                </a:spcAft>
                <a:buClr>
                  <a:srgbClr val="1A1A1A"/>
                </a:buClr>
                <a:buSzPts val="1100"/>
                <a:buFont typeface="Arial"/>
                <a:buChar char="●"/>
              </a:pPr>
              <a:r>
                <a:rPr b="1" lang="en" sz="1100">
                  <a:solidFill>
                    <a:srgbClr val="1A1A1A"/>
                  </a:solidFill>
                  <a:latin typeface="Arial"/>
                  <a:ea typeface="Arial"/>
                  <a:cs typeface="Arial"/>
                  <a:sym typeface="Arial"/>
                </a:rPr>
                <a:t>Dataset validity:</a:t>
              </a:r>
              <a:r>
                <a:rPr lang="en" sz="1100">
                  <a:solidFill>
                    <a:srgbClr val="1A1A1A"/>
                  </a:solidFill>
                  <a:latin typeface="Arial"/>
                  <a:ea typeface="Arial"/>
                  <a:cs typeface="Arial"/>
                  <a:sym typeface="Arial"/>
                </a:rPr>
                <a:t> Accuracy requires 1 human answers.</a:t>
              </a:r>
              <a:endParaRPr sz="1100">
                <a:solidFill>
                  <a:srgbClr val="1A1A1A"/>
                </a:solidFill>
                <a:latin typeface="Arial"/>
                <a:ea typeface="Arial"/>
                <a:cs typeface="Arial"/>
                <a:sym typeface="Arial"/>
              </a:endParaRPr>
            </a:p>
            <a:p>
              <a:pPr indent="-298450" lvl="0" marL="457200" rtl="0" algn="l">
                <a:spcBef>
                  <a:spcPts val="800"/>
                </a:spcBef>
                <a:spcAft>
                  <a:spcPts val="0"/>
                </a:spcAft>
                <a:buClr>
                  <a:srgbClr val="1A1A1A"/>
                </a:buClr>
                <a:buSzPts val="1100"/>
                <a:buFont typeface="Arial"/>
                <a:buChar char="●"/>
              </a:pPr>
              <a:r>
                <a:rPr b="1" lang="en" sz="1100">
                  <a:solidFill>
                    <a:srgbClr val="1A1A1A"/>
                  </a:solidFill>
                  <a:latin typeface="Arial"/>
                  <a:ea typeface="Arial"/>
                  <a:cs typeface="Arial"/>
                  <a:sym typeface="Arial"/>
                </a:rPr>
                <a:t>Quality:</a:t>
              </a:r>
              <a:r>
                <a:rPr lang="en" sz="1100">
                  <a:solidFill>
                    <a:srgbClr val="1A1A1A"/>
                  </a:solidFill>
                  <a:latin typeface="Arial"/>
                  <a:ea typeface="Arial"/>
                  <a:cs typeface="Arial"/>
                  <a:sym typeface="Arial"/>
                </a:rPr>
                <a:t> Robust at moderate compression; statistical differences are not conclusive.</a:t>
              </a:r>
              <a:endParaRPr sz="1100">
                <a:solidFill>
                  <a:srgbClr val="1A1A1A"/>
                </a:solidFill>
                <a:latin typeface="Arial"/>
                <a:ea typeface="Arial"/>
                <a:cs typeface="Arial"/>
                <a:sym typeface="Arial"/>
              </a:endParaRPr>
            </a:p>
            <a:p>
              <a:pPr indent="-298450" lvl="0" marL="457200" rtl="0" algn="l">
                <a:spcBef>
                  <a:spcPts val="800"/>
                </a:spcBef>
                <a:spcAft>
                  <a:spcPts val="0"/>
                </a:spcAft>
                <a:buClr>
                  <a:srgbClr val="1A1A1A"/>
                </a:buClr>
                <a:buSzPts val="1100"/>
                <a:buFont typeface="Arial"/>
                <a:buChar char="●"/>
              </a:pPr>
              <a:r>
                <a:rPr b="1" lang="en" sz="1100">
                  <a:solidFill>
                    <a:srgbClr val="1A1A1A"/>
                  </a:solidFill>
                  <a:latin typeface="Arial"/>
                  <a:ea typeface="Arial"/>
                  <a:cs typeface="Arial"/>
                  <a:sym typeface="Arial"/>
                </a:rPr>
                <a:t>Efficiency:</a:t>
              </a:r>
              <a:r>
                <a:rPr lang="en" sz="1100">
                  <a:solidFill>
                    <a:srgbClr val="1A1A1A"/>
                  </a:solidFill>
                  <a:latin typeface="Arial"/>
                  <a:ea typeface="Arial"/>
                  <a:cs typeface="Arial"/>
                  <a:sym typeface="Arial"/>
                </a:rPr>
                <a:t> Latency gains not realized; best compressed run reached 0.94× speed.</a:t>
              </a:r>
              <a:endParaRPr sz="1100">
                <a:solidFill>
                  <a:srgbClr val="1A1A1A"/>
                </a:solidFill>
                <a:latin typeface="Arial"/>
                <a:ea typeface="Arial"/>
                <a:cs typeface="Arial"/>
                <a:sym typeface="Arial"/>
              </a:endParaRPr>
            </a:p>
            <a:p>
              <a:pPr indent="-298450" lvl="0" marL="457200" rtl="0" algn="l">
                <a:spcBef>
                  <a:spcPts val="800"/>
                </a:spcBef>
                <a:spcAft>
                  <a:spcPts val="800"/>
                </a:spcAft>
                <a:buClr>
                  <a:srgbClr val="1A1A1A"/>
                </a:buClr>
                <a:buSzPts val="1100"/>
                <a:buFont typeface="Arial"/>
                <a:buChar char="●"/>
              </a:pPr>
              <a:r>
                <a:rPr b="1" lang="en" sz="1100">
                  <a:solidFill>
                    <a:srgbClr val="1A1A1A"/>
                  </a:solidFill>
                  <a:latin typeface="Arial"/>
                  <a:ea typeface="Arial"/>
                  <a:cs typeface="Arial"/>
                  <a:sym typeface="Arial"/>
                </a:rPr>
                <a:t>Cost:</a:t>
              </a:r>
              <a:r>
                <a:rPr lang="en" sz="1100">
                  <a:solidFill>
                    <a:srgbClr val="1A1A1A"/>
                  </a:solidFill>
                  <a:latin typeface="Arial"/>
                  <a:ea typeface="Arial"/>
                  <a:cs typeface="Arial"/>
                  <a:sym typeface="Arial"/>
                </a:rPr>
                <a:t> Higher resolution significantly increases token count and peak memory.</a:t>
              </a:r>
              <a:endParaRPr sz="1100">
                <a:solidFill>
                  <a:srgbClr val="1A1A1A"/>
                </a:solidFill>
                <a:latin typeface="Arial"/>
                <a:ea typeface="Arial"/>
                <a:cs typeface="Arial"/>
                <a:sym typeface="Arial"/>
              </a:endParaRPr>
            </a:p>
          </p:txBody>
        </p:sp>
      </p:grpSp>
      <p:grpSp>
        <p:nvGrpSpPr>
          <p:cNvPr id="482" name="Google Shape;482;p57"/>
          <p:cNvGrpSpPr/>
          <p:nvPr/>
        </p:nvGrpSpPr>
        <p:grpSpPr>
          <a:xfrm>
            <a:off x="4667250" y="1190625"/>
            <a:ext cx="4048200" cy="3238500"/>
            <a:chOff x="4667250" y="1190625"/>
            <a:chExt cx="4048200" cy="3238500"/>
          </a:xfrm>
        </p:grpSpPr>
        <p:sp>
          <p:nvSpPr>
            <p:cNvPr id="483" name="Google Shape;483;p57"/>
            <p:cNvSpPr/>
            <p:nvPr/>
          </p:nvSpPr>
          <p:spPr>
            <a:xfrm>
              <a:off x="4667250" y="1190625"/>
              <a:ext cx="4048200" cy="3238500"/>
            </a:xfrm>
            <a:prstGeom prst="roundRect">
              <a:avLst>
                <a:gd fmla="val 3529" name="adj"/>
              </a:avLst>
            </a:prstGeom>
            <a:solidFill>
              <a:srgbClr val="E8F5E9"/>
            </a:solidFill>
            <a:ln cap="flat" cmpd="sng" w="14300">
              <a:solidFill>
                <a:srgbClr val="2E7D3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57"/>
            <p:cNvSpPr txBox="1"/>
            <p:nvPr/>
          </p:nvSpPr>
          <p:spPr>
            <a:xfrm>
              <a:off x="4810125" y="1333500"/>
              <a:ext cx="37623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B5E20"/>
                  </a:solidFill>
                  <a:latin typeface="Arial"/>
                  <a:ea typeface="Arial"/>
                  <a:cs typeface="Arial"/>
                  <a:sym typeface="Arial"/>
                </a:rPr>
                <a:t>Conclusion &amp; Future Work</a:t>
              </a:r>
              <a:endParaRPr b="1" sz="1400">
                <a:solidFill>
                  <a:srgbClr val="1B5E20"/>
                </a:solidFill>
                <a:latin typeface="Arial"/>
                <a:ea typeface="Arial"/>
                <a:cs typeface="Arial"/>
                <a:sym typeface="Arial"/>
              </a:endParaRPr>
            </a:p>
            <a:p>
              <a:pPr indent="-298450" lvl="0" marL="457200" rtl="0" algn="l">
                <a:spcBef>
                  <a:spcPts val="1200"/>
                </a:spcBef>
                <a:spcAft>
                  <a:spcPts val="0"/>
                </a:spcAft>
                <a:buClr>
                  <a:srgbClr val="1B5E20"/>
                </a:buClr>
                <a:buSzPts val="1100"/>
                <a:buFont typeface="Arial"/>
                <a:buChar char="●"/>
              </a:pPr>
              <a:r>
                <a:rPr lang="en" sz="1100">
                  <a:solidFill>
                    <a:srgbClr val="1B5E20"/>
                  </a:solidFill>
                  <a:latin typeface="Arial"/>
                  <a:ea typeface="Arial"/>
                  <a:cs typeface="Arial"/>
                  <a:sym typeface="Arial"/>
                </a:rPr>
                <a:t>Built a rigorous pipeline for VLM compression evaluation and profiling.</a:t>
              </a:r>
              <a:endParaRPr sz="1100">
                <a:solidFill>
                  <a:srgbClr val="1B5E20"/>
                </a:solidFill>
                <a:latin typeface="Arial"/>
                <a:ea typeface="Arial"/>
                <a:cs typeface="Arial"/>
                <a:sym typeface="Arial"/>
              </a:endParaRPr>
            </a:p>
            <a:p>
              <a:pPr indent="-298450" lvl="0" marL="457200" rtl="0" algn="l">
                <a:spcBef>
                  <a:spcPts val="1000"/>
                </a:spcBef>
                <a:spcAft>
                  <a:spcPts val="0"/>
                </a:spcAft>
                <a:buClr>
                  <a:srgbClr val="1B5E20"/>
                </a:buClr>
                <a:buSzPts val="1100"/>
                <a:buFont typeface="Arial"/>
                <a:buChar char="●"/>
              </a:pPr>
              <a:r>
                <a:rPr lang="en" sz="1100">
                  <a:solidFill>
                    <a:srgbClr val="1B5E20"/>
                  </a:solidFill>
                  <a:latin typeface="Arial"/>
                  <a:ea typeface="Arial"/>
                  <a:cs typeface="Arial"/>
                  <a:sym typeface="Arial"/>
                </a:rPr>
                <a:t>Moderate compression is promising, but current latency overhead is a barrier.</a:t>
              </a:r>
              <a:endParaRPr sz="1100">
                <a:solidFill>
                  <a:srgbClr val="1B5E20"/>
                </a:solidFill>
                <a:latin typeface="Arial"/>
                <a:ea typeface="Arial"/>
                <a:cs typeface="Arial"/>
                <a:sym typeface="Arial"/>
              </a:endParaRPr>
            </a:p>
            <a:p>
              <a:pPr indent="-298450" lvl="0" marL="457200" rtl="0" algn="l">
                <a:spcBef>
                  <a:spcPts val="1000"/>
                </a:spcBef>
                <a:spcAft>
                  <a:spcPts val="1000"/>
                </a:spcAft>
                <a:buClr>
                  <a:srgbClr val="1B5E20"/>
                </a:buClr>
                <a:buSzPts val="1100"/>
                <a:buFont typeface="Arial"/>
                <a:buChar char="●"/>
              </a:pPr>
              <a:r>
                <a:rPr lang="en" sz="1100">
                  <a:solidFill>
                    <a:srgbClr val="1B5E20"/>
                  </a:solidFill>
                  <a:latin typeface="Arial"/>
                  <a:ea typeface="Arial"/>
                  <a:cs typeface="Arial"/>
                  <a:sym typeface="Arial"/>
                </a:rPr>
                <a:t>Future efforts should focus on overhead reduction and larger-scale benchmarking.</a:t>
              </a:r>
              <a:endParaRPr sz="1100">
                <a:solidFill>
                  <a:srgbClr val="1B5E20"/>
                </a:solidFill>
                <a:latin typeface="Arial"/>
                <a:ea typeface="Arial"/>
                <a:cs typeface="Arial"/>
                <a:sym typeface="Arial"/>
              </a:endParaRPr>
            </a:p>
          </p:txBody>
        </p:sp>
      </p:grpSp>
      <p:sp>
        <p:nvSpPr>
          <p:cNvPr id="485" name="Google Shape;485;p57"/>
          <p:cNvSpPr txBox="1"/>
          <p:nvPr>
            <p:ph type="title"/>
          </p:nvPr>
        </p:nvSpPr>
        <p:spPr>
          <a:xfrm>
            <a:off x="523875" y="428625"/>
            <a:ext cx="80964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800">
                <a:solidFill>
                  <a:srgbClr val="1A1A1A"/>
                </a:solidFill>
                <a:latin typeface="Arial"/>
                <a:ea typeface="Arial"/>
                <a:cs typeface="Arial"/>
                <a:sym typeface="Arial"/>
              </a:rPr>
              <a:t>Observations &amp; Conclusion</a:t>
            </a:r>
            <a:endParaRPr b="1" i="0" sz="2800">
              <a:solidFill>
                <a:srgbClr val="1A1A1A"/>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8"/>
          <p:cNvSpPr txBox="1"/>
          <p:nvPr>
            <p:ph type="title"/>
          </p:nvPr>
        </p:nvSpPr>
        <p:spPr>
          <a:xfrm>
            <a:off x="717050" y="1305925"/>
            <a:ext cx="4426500" cy="1746900"/>
          </a:xfrm>
          <a:prstGeom prst="rect">
            <a:avLst/>
          </a:prstGeom>
        </p:spPr>
        <p:txBody>
          <a:bodyPr anchorCtr="0" anchor="b"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t/>
            </a:r>
            <a:endParaRPr b="1" sz="1200">
              <a:solidFill>
                <a:schemeClr val="lt1"/>
              </a:solidFill>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Char char="●"/>
            </a:pPr>
            <a:r>
              <a:rPr b="1" lang="en" sz="1200">
                <a:solidFill>
                  <a:schemeClr val="lt1"/>
                </a:solidFill>
                <a:latin typeface="Arial"/>
                <a:ea typeface="Arial"/>
                <a:cs typeface="Arial"/>
                <a:sym typeface="Arial"/>
              </a:rPr>
              <a:t>GitHub Repository:</a:t>
            </a:r>
            <a:r>
              <a:rPr lang="en" sz="1200">
                <a:solidFill>
                  <a:schemeClr val="lt1"/>
                </a:solidFill>
                <a:latin typeface="Arial"/>
                <a:ea typeface="Arial"/>
                <a:cs typeface="Arial"/>
                <a:sym typeface="Arial"/>
              </a:rPr>
              <a:t> </a:t>
            </a:r>
            <a:r>
              <a:rPr lang="en" sz="1200" u="sng">
                <a:solidFill>
                  <a:schemeClr val="lt1"/>
                </a:solidFill>
                <a:latin typeface="Arial"/>
                <a:ea typeface="Arial"/>
                <a:cs typeface="Arial"/>
                <a:sym typeface="Arial"/>
                <a:hlinkClick r:id="rId3">
                  <a:extLst>
                    <a:ext uri="{A12FA001-AC4F-418D-AE19-62706E023703}">
                      <ahyp:hlinkClr val="tx"/>
                    </a:ext>
                  </a:extLst>
                </a:hlinkClick>
              </a:rPr>
              <a:t>https://github.com/HaojingTONG/VLM-Inference.git</a:t>
            </a:r>
            <a:endParaRPr sz="1200" u="sng">
              <a:solidFill>
                <a:schemeClr val="lt1"/>
              </a:solidFill>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Char char="●"/>
            </a:pPr>
            <a:r>
              <a:rPr b="1" lang="en" sz="1200">
                <a:solidFill>
                  <a:schemeClr val="lt1"/>
                </a:solidFill>
                <a:latin typeface="Arial"/>
                <a:ea typeface="Arial"/>
                <a:cs typeface="Arial"/>
                <a:sym typeface="Arial"/>
              </a:rPr>
              <a:t>Q&amp;A Session</a:t>
            </a:r>
            <a:endParaRPr b="1" sz="1200">
              <a:solidFill>
                <a:schemeClr val="lt1"/>
              </a:solidFill>
              <a:latin typeface="Arial"/>
              <a:ea typeface="Arial"/>
              <a:cs typeface="Arial"/>
              <a:sym typeface="Arial"/>
            </a:endParaRPr>
          </a:p>
          <a:p>
            <a:pPr indent="0" lvl="0" marL="0" rtl="0" algn="l">
              <a:spcBef>
                <a:spcPts val="1200"/>
              </a:spcBef>
              <a:spcAft>
                <a:spcPts val="0"/>
              </a:spcAft>
              <a:buNone/>
            </a:pPr>
            <a:r>
              <a:t/>
            </a:r>
            <a:endParaRPr sz="1200">
              <a:solidFill>
                <a:schemeClr val="lt1"/>
              </a:solidFill>
            </a:endParaRPr>
          </a:p>
        </p:txBody>
      </p:sp>
      <p:pic>
        <p:nvPicPr>
          <p:cNvPr id="491" name="Google Shape;491;p58"/>
          <p:cNvPicPr preferRelativeResize="0"/>
          <p:nvPr/>
        </p:nvPicPr>
        <p:blipFill>
          <a:blip r:embed="rId4">
            <a:alphaModFix/>
          </a:blip>
          <a:stretch>
            <a:fillRect/>
          </a:stretch>
        </p:blipFill>
        <p:spPr>
          <a:xfrm>
            <a:off x="625375" y="627900"/>
            <a:ext cx="610500" cy="610500"/>
          </a:xfrm>
          <a:prstGeom prst="rect">
            <a:avLst/>
          </a:prstGeom>
          <a:noFill/>
          <a:ln>
            <a:noFill/>
          </a:ln>
        </p:spPr>
      </p:pic>
      <p:cxnSp>
        <p:nvCxnSpPr>
          <p:cNvPr id="492" name="Google Shape;492;p58"/>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493" name="Google Shape;493;p58"/>
          <p:cNvSpPr txBox="1"/>
          <p:nvPr/>
        </p:nvSpPr>
        <p:spPr>
          <a:xfrm>
            <a:off x="5594950" y="3328475"/>
            <a:ext cx="2941500" cy="1181400"/>
          </a:xfrm>
          <a:prstGeom prst="rect">
            <a:avLst/>
          </a:prstGeom>
          <a:noFill/>
          <a:ln>
            <a:noFill/>
          </a:ln>
        </p:spPr>
        <p:txBody>
          <a:bodyPr anchorCtr="0" anchor="b" bIns="91425" lIns="0" spcFirstLastPara="1" rIns="0" wrap="square" tIns="0">
            <a:noAutofit/>
          </a:bodyPr>
          <a:lstStyle/>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600">
                <a:solidFill>
                  <a:schemeClr val="dk1"/>
                </a:solidFill>
                <a:latin typeface="Arimo"/>
                <a:ea typeface="Arimo"/>
                <a:cs typeface="Arimo"/>
                <a:sym typeface="Arimo"/>
              </a:rPr>
              <a:t>Thank you!</a:t>
            </a:r>
            <a:endParaRPr sz="1600">
              <a:solidFill>
                <a:schemeClr val="dk1"/>
              </a:solidFill>
              <a:latin typeface="Arimo"/>
              <a:ea typeface="Arimo"/>
              <a:cs typeface="Arimo"/>
              <a:sym typeface="Arimo"/>
            </a:endParaRPr>
          </a:p>
        </p:txBody>
      </p:sp>
      <p:sp>
        <p:nvSpPr>
          <p:cNvPr id="494" name="Google Shape;494;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